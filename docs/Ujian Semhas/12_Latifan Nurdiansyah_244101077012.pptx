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7" r:id="rId4"/>
    <p:sldId id="263" r:id="rId5"/>
    <p:sldId id="258" r:id="rId6"/>
    <p:sldId id="262" r:id="rId7"/>
    <p:sldId id="265" r:id="rId8"/>
    <p:sldId id="266" r:id="rId9"/>
    <p:sldId id="264" r:id="rId10"/>
    <p:sldId id="261" r:id="rId11"/>
  </p:sldIdLst>
  <p:sldSz cx="18288000" cy="10287000"/>
  <p:notesSz cx="6858000" cy="9144000"/>
  <p:embeddedFontLst>
    <p:embeddedFont>
      <p:font typeface="Britannic Bold" panose="020B0903060703020204" pitchFamily="34" charset="0"/>
      <p:regular r:id="rId13"/>
    </p:embeddedFont>
    <p:embeddedFont>
      <p:font typeface="Poppins" panose="000005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hJzCjC/U+bw2HvPWDr1CHQdy1s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CD1E25-FE98-4B5A-8E57-A940E09644AD}">
  <a:tblStyle styleId="{C3CD1E25-FE98-4B5A-8E57-A940E09644A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562" autoAdjust="0"/>
  </p:normalViewPr>
  <p:slideViewPr>
    <p:cSldViewPr snapToGrid="0">
      <p:cViewPr varScale="1">
        <p:scale>
          <a:sx n="43" d="100"/>
          <a:sy n="43" d="100"/>
        </p:scale>
        <p:origin x="1378"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None/>
            </a:pPr>
            <a:r>
              <a:rPr lang="en-US" sz="1200" dirty="0">
                <a:latin typeface="Times New Roman"/>
                <a:ea typeface="Times New Roman"/>
                <a:cs typeface="Times New Roman"/>
                <a:sym typeface="Times New Roman"/>
              </a:rPr>
              <a:t>Bismillah</a:t>
            </a:r>
            <a:endParaRPr lang="en-US" sz="1200" dirty="0">
              <a:latin typeface="Calibri"/>
              <a:ea typeface="Calibri"/>
              <a:cs typeface="Calibri"/>
              <a:sym typeface="Calibri"/>
            </a:endParaRPr>
          </a:p>
          <a:p>
            <a:pPr marL="0" lvl="0" indent="0" algn="just" rtl="0">
              <a:lnSpc>
                <a:spcPct val="150000"/>
              </a:lnSpc>
              <a:spcBef>
                <a:spcPts val="800"/>
              </a:spcBef>
              <a:spcAft>
                <a:spcPts val="0"/>
              </a:spcAft>
              <a:buNone/>
            </a:pPr>
            <a:r>
              <a:rPr lang="en-US" sz="1200" dirty="0" err="1">
                <a:latin typeface="Times New Roman"/>
                <a:ea typeface="Times New Roman"/>
                <a:cs typeface="Times New Roman"/>
                <a:sym typeface="Times New Roman"/>
              </a:rPr>
              <a:t>Assalamu’alaikum</a:t>
            </a:r>
            <a:r>
              <a:rPr lang="en-US" sz="1200" dirty="0">
                <a:latin typeface="Times New Roman"/>
                <a:ea typeface="Times New Roman"/>
                <a:cs typeface="Times New Roman"/>
                <a:sym typeface="Times New Roman"/>
              </a:rPr>
              <a:t> </a:t>
            </a:r>
            <a:r>
              <a:rPr lang="en-US" sz="1200" dirty="0" err="1">
                <a:latin typeface="Times New Roman"/>
                <a:ea typeface="Times New Roman"/>
                <a:cs typeface="Times New Roman"/>
                <a:sym typeface="Times New Roman"/>
              </a:rPr>
              <a:t>Warahmatullahi</a:t>
            </a:r>
            <a:r>
              <a:rPr lang="en-US" sz="1200" dirty="0">
                <a:latin typeface="Times New Roman"/>
                <a:ea typeface="Times New Roman"/>
                <a:cs typeface="Times New Roman"/>
                <a:sym typeface="Times New Roman"/>
              </a:rPr>
              <a:t> </a:t>
            </a:r>
            <a:r>
              <a:rPr lang="en-US" sz="1200" dirty="0" err="1">
                <a:latin typeface="Times New Roman"/>
                <a:ea typeface="Times New Roman"/>
                <a:cs typeface="Times New Roman"/>
                <a:sym typeface="Times New Roman"/>
              </a:rPr>
              <a:t>Wabarakatuh</a:t>
            </a:r>
            <a:r>
              <a:rPr lang="en-US" sz="1200" dirty="0">
                <a:latin typeface="Times New Roman"/>
                <a:ea typeface="Times New Roman"/>
                <a:cs typeface="Times New Roman"/>
                <a:sym typeface="Times New Roman"/>
              </a:rPr>
              <a:t>.</a:t>
            </a:r>
            <a:endParaRPr lang="en-US" sz="1200" dirty="0">
              <a:latin typeface="Calibri"/>
              <a:ea typeface="Calibri"/>
              <a:cs typeface="Calibri"/>
              <a:sym typeface="Calibri"/>
            </a:endParaRPr>
          </a:p>
          <a:p>
            <a:pPr marL="0" lvl="0" indent="0" algn="just" rtl="0">
              <a:lnSpc>
                <a:spcPct val="150000"/>
              </a:lnSpc>
              <a:spcBef>
                <a:spcPts val="800"/>
              </a:spcBef>
              <a:spcAft>
                <a:spcPts val="0"/>
              </a:spcAft>
              <a:buNone/>
            </a:pPr>
            <a:r>
              <a:rPr lang="en-US" sz="1200" dirty="0">
                <a:latin typeface="Times New Roman"/>
                <a:ea typeface="Times New Roman"/>
                <a:cs typeface="Times New Roman"/>
                <a:sym typeface="Times New Roman"/>
              </a:rPr>
              <a:t>Good morning, all, Respected thesis result seminar examiners,</a:t>
            </a:r>
            <a:endParaRPr lang="en-US" sz="1200" dirty="0">
              <a:latin typeface="Calibri"/>
              <a:ea typeface="Calibri"/>
              <a:cs typeface="Calibri"/>
              <a:sym typeface="Calibri"/>
            </a:endParaRPr>
          </a:p>
          <a:p>
            <a:pPr marL="0" lvl="0" indent="0" algn="just" rtl="0">
              <a:lnSpc>
                <a:spcPct val="150000"/>
              </a:lnSpc>
              <a:spcBef>
                <a:spcPts val="800"/>
              </a:spcBef>
              <a:spcAft>
                <a:spcPts val="0"/>
              </a:spcAft>
              <a:buNone/>
            </a:pPr>
            <a:r>
              <a:rPr lang="en-US" sz="1200" dirty="0">
                <a:latin typeface="Times New Roman"/>
                <a:ea typeface="Times New Roman"/>
                <a:cs typeface="Times New Roman"/>
                <a:sym typeface="Times New Roman"/>
              </a:rPr>
              <a:t>First of all, let us express our gratitude to Allah SWT who has granted us health and blessings, so that we can gather here today to carry out this thesis result seminar.</a:t>
            </a:r>
            <a:endParaRPr lang="en-US" sz="1200" dirty="0">
              <a:latin typeface="Calibri"/>
              <a:ea typeface="Calibri"/>
              <a:cs typeface="Calibri"/>
              <a:sym typeface="Calibri"/>
            </a:endParaRPr>
          </a:p>
          <a:p>
            <a:pPr marL="0" lvl="0" indent="0" algn="just" rtl="0">
              <a:lnSpc>
                <a:spcPct val="150000"/>
              </a:lnSpc>
              <a:spcBef>
                <a:spcPts val="800"/>
              </a:spcBef>
              <a:spcAft>
                <a:spcPts val="0"/>
              </a:spcAft>
              <a:buNone/>
            </a:pPr>
            <a:r>
              <a:rPr lang="en-US" sz="1200" dirty="0">
                <a:latin typeface="Times New Roman"/>
                <a:ea typeface="Times New Roman"/>
                <a:cs typeface="Times New Roman"/>
                <a:sym typeface="Times New Roman"/>
              </a:rPr>
              <a:t>Allow me to introduce myself. My name is Latifan Nurdiansyah from the D4 Electronics Engineering study program, with student ID 244101077012.</a:t>
            </a:r>
          </a:p>
          <a:p>
            <a:pPr marL="0" lvl="0" indent="0" algn="just" rtl="0">
              <a:lnSpc>
                <a:spcPct val="150000"/>
              </a:lnSpc>
              <a:spcBef>
                <a:spcPts val="800"/>
              </a:spcBef>
              <a:spcAft>
                <a:spcPts val="0"/>
              </a:spcAft>
              <a:buNone/>
            </a:pPr>
            <a:endParaRPr lang="en-US" sz="1200" dirty="0">
              <a:latin typeface="Times New Roman"/>
              <a:cs typeface="Times New Roman"/>
              <a:sym typeface="Times New Roman"/>
            </a:endParaRPr>
          </a:p>
          <a:p>
            <a:pPr marL="0" marR="0" lvl="0" indent="0" algn="just" defTabSz="914400" rtl="0" eaLnBrk="1" fontAlgn="auto" latinLnBrk="0" hangingPunct="1">
              <a:lnSpc>
                <a:spcPct val="150000"/>
              </a:lnSpc>
              <a:spcBef>
                <a:spcPts val="800"/>
              </a:spcBef>
              <a:spcAft>
                <a:spcPts val="0"/>
              </a:spcAft>
              <a:buClr>
                <a:srgbClr val="000000"/>
              </a:buClr>
              <a:buSzPts val="1400"/>
              <a:buFont typeface="Arial"/>
              <a:buNone/>
              <a:tabLst/>
              <a:defRPr/>
            </a:pPr>
            <a:r>
              <a:rPr lang="en-US" sz="1200" dirty="0">
                <a:latin typeface="Times New Roman"/>
                <a:ea typeface="Times New Roman"/>
                <a:cs typeface="Times New Roman"/>
                <a:sym typeface="Times New Roman"/>
              </a:rPr>
              <a:t>I would like to present my thesis entitled “</a:t>
            </a:r>
            <a:r>
              <a:rPr lang="de-DE" sz="1200" b="1" dirty="0">
                <a:solidFill>
                  <a:schemeClr val="accent5">
                    <a:lumMod val="75000"/>
                  </a:schemeClr>
                </a:solidFill>
                <a:latin typeface="Poppins" panose="00000500000000000000" pitchFamily="2" charset="0"/>
                <a:cs typeface="Poppins" panose="00000500000000000000" pitchFamily="2" charset="0"/>
              </a:rPr>
              <a:t>IMPLEMENTASI RANGKAIAN ELEKTRONIK DAN SISTEM KOMUNIKASI MULTI-PEMAIN UNTUK PERMAINAN </a:t>
            </a:r>
            <a:r>
              <a:rPr lang="de-DE" sz="1200" b="1" i="1" dirty="0">
                <a:solidFill>
                  <a:schemeClr val="accent5">
                    <a:lumMod val="75000"/>
                  </a:schemeClr>
                </a:solidFill>
                <a:latin typeface="Poppins" panose="00000500000000000000" pitchFamily="2" charset="0"/>
                <a:cs typeface="Poppins" panose="00000500000000000000" pitchFamily="2" charset="0"/>
              </a:rPr>
              <a:t>LASER TAG</a:t>
            </a:r>
            <a:r>
              <a:rPr lang="de-DE" sz="1200" b="1" dirty="0">
                <a:solidFill>
                  <a:schemeClr val="accent5">
                    <a:lumMod val="75000"/>
                  </a:schemeClr>
                </a:solidFill>
                <a:latin typeface="Poppins" panose="00000500000000000000" pitchFamily="2" charset="0"/>
                <a:cs typeface="Poppins" panose="00000500000000000000" pitchFamily="2" charset="0"/>
              </a:rPr>
              <a:t> MENGGUNAKAN ESP-NOW DAN </a:t>
            </a:r>
            <a:r>
              <a:rPr lang="de-DE" sz="1200" b="1" dirty="0" err="1">
                <a:solidFill>
                  <a:schemeClr val="accent5">
                    <a:lumMod val="75000"/>
                  </a:schemeClr>
                </a:solidFill>
                <a:latin typeface="Poppins" panose="00000500000000000000" pitchFamily="2" charset="0"/>
                <a:cs typeface="Poppins" panose="00000500000000000000" pitchFamily="2" charset="0"/>
              </a:rPr>
              <a:t>LoRa</a:t>
            </a:r>
            <a:r>
              <a:rPr lang="de-DE" sz="1200" b="1" dirty="0">
                <a:solidFill>
                  <a:schemeClr val="accent5">
                    <a:lumMod val="75000"/>
                  </a:schemeClr>
                </a:solidFill>
                <a:latin typeface="Poppins" panose="00000500000000000000" pitchFamily="2" charset="0"/>
                <a:cs typeface="Poppins" panose="00000500000000000000" pitchFamily="2" charset="0"/>
              </a:rPr>
              <a:t>“</a:t>
            </a:r>
            <a:endParaRPr lang="en-ID" sz="1200" dirty="0">
              <a:solidFill>
                <a:schemeClr val="accent5">
                  <a:lumMod val="75000"/>
                </a:schemeClr>
              </a:solidFill>
              <a:latin typeface="Poppins" panose="00000500000000000000" pitchFamily="2" charset="0"/>
              <a:cs typeface="Poppins" panose="00000500000000000000" pitchFamily="2" charset="0"/>
            </a:endParaRPr>
          </a:p>
          <a:p>
            <a:pPr marL="0" lvl="0" indent="0" algn="just" rtl="0">
              <a:lnSpc>
                <a:spcPct val="150000"/>
              </a:lnSpc>
              <a:spcBef>
                <a:spcPts val="800"/>
              </a:spcBef>
              <a:spcAft>
                <a:spcPts val="0"/>
              </a:spcAft>
              <a:buNone/>
            </a:pPr>
            <a:endParaRPr lang="en-US"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"Let's start with the background.</a:t>
            </a:r>
          </a:p>
          <a:p>
            <a:r>
              <a:rPr lang="en-US" dirty="0"/>
              <a:t>Existing commercial laser tag systems have three main drawbacks:</a:t>
            </a:r>
          </a:p>
          <a:p>
            <a:r>
              <a:rPr lang="en-US" dirty="0"/>
              <a:t>First, shot detection is inaccurate because it is susceptible to light interference. Second, there is no real-time player positioning data. Third, there is no data communication between players and the control center.</a:t>
            </a:r>
          </a:p>
          <a:p>
            <a:r>
              <a:rPr lang="en-US" dirty="0"/>
              <a:t>Military solutions like MILES are indeed advanced, but they are too expensive and complex for recreational use.</a:t>
            </a:r>
          </a:p>
          <a:p>
            <a:r>
              <a:rPr lang="en-US" dirty="0"/>
              <a:t>The development of IoT opens up new opportunities. We combine two protocols: ESP-NOW for fast, short-range communication between players, and LoRa for low-power, long-range data transmission to the server.</a:t>
            </a:r>
          </a:p>
          <a:p>
            <a:r>
              <a:rPr lang="en-US" dirty="0"/>
              <a:t>The combination of these two protocols forms an efficient two-layer communication architecture</a:t>
            </a:r>
          </a:p>
        </p:txBody>
      </p:sp>
      <p:sp>
        <p:nvSpPr>
          <p:cNvPr id="105" name="Google Shape;10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0355EE6A-0FA9-034A-67B0-21CF9B14E1AB}"/>
            </a:ext>
          </a:extLst>
        </p:cNvPr>
        <p:cNvGrpSpPr/>
        <p:nvPr/>
      </p:nvGrpSpPr>
      <p:grpSpPr>
        <a:xfrm>
          <a:off x="0" y="0"/>
          <a:ext cx="0" cy="0"/>
          <a:chOff x="0" y="0"/>
          <a:chExt cx="0" cy="0"/>
        </a:xfrm>
      </p:grpSpPr>
      <p:sp>
        <p:nvSpPr>
          <p:cNvPr id="103" name="Google Shape;103;p2:notes">
            <a:extLst>
              <a:ext uri="{FF2B5EF4-FFF2-40B4-BE49-F238E27FC236}">
                <a16:creationId xmlns:a16="http://schemas.microsoft.com/office/drawing/2014/main" id="{B72ABCF3-3798-9BFC-4E8C-750D4CC1C1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2:notes">
            <a:extLst>
              <a:ext uri="{FF2B5EF4-FFF2-40B4-BE49-F238E27FC236}">
                <a16:creationId xmlns:a16="http://schemas.microsoft.com/office/drawing/2014/main" id="{F7FE2C98-B0E4-8E77-338E-EFBB2CB69B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Based on this background, there are three research questions:</a:t>
            </a:r>
          </a:p>
          <a:p>
            <a:r>
              <a:rPr lang="en-US" dirty="0"/>
              <a:t>First: How can electronic circuits be implemented in weapons, helmets, and vests, and how can two-way communication with the server be established?</a:t>
            </a:r>
          </a:p>
          <a:p>
            <a:r>
              <a:rPr lang="en-US" dirty="0"/>
              <a:t>Second: How can ESP-NOW and LoRa be integrated for real-time communication during gameplay?</a:t>
            </a:r>
          </a:p>
          <a:p>
            <a:r>
              <a:rPr lang="en-US" dirty="0"/>
              <a:t>Third: How does this system support real-time score tracking?</a:t>
            </a:r>
          </a:p>
        </p:txBody>
      </p:sp>
      <p:sp>
        <p:nvSpPr>
          <p:cNvPr id="105" name="Google Shape;105;p2:notes">
            <a:extLst>
              <a:ext uri="{FF2B5EF4-FFF2-40B4-BE49-F238E27FC236}">
                <a16:creationId xmlns:a16="http://schemas.microsoft.com/office/drawing/2014/main" id="{C63126FB-CEDE-DD6F-CEF4-139F58918BB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964295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BD136D5A-DE28-5D8F-629F-0BCE807C26B7}"/>
            </a:ext>
          </a:extLst>
        </p:cNvPr>
        <p:cNvGrpSpPr/>
        <p:nvPr/>
      </p:nvGrpSpPr>
      <p:grpSpPr>
        <a:xfrm>
          <a:off x="0" y="0"/>
          <a:ext cx="0" cy="0"/>
          <a:chOff x="0" y="0"/>
          <a:chExt cx="0" cy="0"/>
        </a:xfrm>
      </p:grpSpPr>
      <p:sp>
        <p:nvSpPr>
          <p:cNvPr id="103" name="Google Shape;103;p2:notes">
            <a:extLst>
              <a:ext uri="{FF2B5EF4-FFF2-40B4-BE49-F238E27FC236}">
                <a16:creationId xmlns:a16="http://schemas.microsoft.com/office/drawing/2014/main" id="{D12D5022-1639-D054-86CC-1F154E4301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2:notes">
            <a:extLst>
              <a:ext uri="{FF2B5EF4-FFF2-40B4-BE49-F238E27FC236}">
                <a16:creationId xmlns:a16="http://schemas.microsoft.com/office/drawing/2014/main" id="{A184A13F-2CE4-836A-73D6-FFC8975E964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"Based on that background, our main objectives are:“</a:t>
            </a:r>
          </a:p>
          <a:p>
            <a:r>
              <a:rPr lang="en-US" dirty="0"/>
              <a:t>First: Implementing electronic circuits in all units—weapons, helmets, and vests—along with a two-way communication system.</a:t>
            </a:r>
          </a:p>
          <a:p>
            <a:r>
              <a:rPr lang="en-US" dirty="0"/>
              <a:t>Second: Integrating the ESP-NOW and LoRa protocols into the microcontroller for real-time communication.</a:t>
            </a:r>
          </a:p>
          <a:p>
            <a:r>
              <a:rPr lang="en-US" dirty="0"/>
              <a:t>Third: Developing a two-way communication system for real-time score tracking.</a:t>
            </a:r>
          </a:p>
        </p:txBody>
      </p:sp>
      <p:sp>
        <p:nvSpPr>
          <p:cNvPr id="105" name="Google Shape;105;p2:notes">
            <a:extLst>
              <a:ext uri="{FF2B5EF4-FFF2-40B4-BE49-F238E27FC236}">
                <a16:creationId xmlns:a16="http://schemas.microsoft.com/office/drawing/2014/main" id="{5BCC7F51-E09B-901E-3415-C28001A74CC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821454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800"/>
              <a:buFont typeface="Times New Roman"/>
              <a:buNone/>
              <a:tabLst/>
              <a:defRPr/>
            </a:pPr>
            <a:r>
              <a:rPr lang="en-US" sz="1200" dirty="0">
                <a:latin typeface="Calibri"/>
                <a:ea typeface="Calibri"/>
                <a:cs typeface="Calibri"/>
                <a:sym typeface="Calibri"/>
              </a:rPr>
              <a:t> </a:t>
            </a:r>
            <a:r>
              <a:rPr lang="en-US" dirty="0"/>
              <a:t>"This is the hardware block diagram of the system." "As you can see………….</a:t>
            </a:r>
          </a:p>
          <a:p>
            <a:r>
              <a:rPr lang="en-US" dirty="0"/>
              <a:t>There are three main units: the SAT (weapon) uses the ESP32-S3 Supermini, the Helmet also uses the ESP32-S3 Supermini, and the Vest uses the ESP32-S3-based </a:t>
            </a:r>
            <a:r>
              <a:rPr lang="en-US" dirty="0" err="1"/>
              <a:t>Heltec</a:t>
            </a:r>
            <a:r>
              <a:rPr lang="en-US" dirty="0"/>
              <a:t> Wireless Tracker V1.2.</a:t>
            </a:r>
          </a:p>
          <a:p>
            <a:r>
              <a:rPr lang="en-US" dirty="0"/>
              <a:t>System workflow: The Weapon emits an infrared signal when fired. The signal is received by either the Helmet or the Vest. If the Helmet receives it, the HIT data is sent to the Vest via ESP-NOW. The Vest then processes the GPS, IR, and anti-cheat data, and sends it to the server via LoRa or GPRS as a backup.</a:t>
            </a:r>
          </a:p>
          <a:p>
            <a:r>
              <a:rPr lang="en-US" dirty="0"/>
              <a:t>Data is also stored on an SD card as a local backup.</a:t>
            </a:r>
          </a:p>
        </p:txBody>
      </p:sp>
      <p:sp>
        <p:nvSpPr>
          <p:cNvPr id="119" name="Google Shape;11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87803E87-E77A-34C4-F777-28B19C50C38A}"/>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584DA4FA-2124-3DEF-165E-5339D71C2A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A746CFE4-FF82-BC70-989C-E36C78C622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This is the overall system workflow chart.</a:t>
            </a:r>
          </a:p>
          <a:p>
            <a:r>
              <a:rPr lang="en-US" dirty="0"/>
              <a:t>It begins when the player presses the fire button on the SAT. The system simultaneously checks three sensor conditions: the sound sensor must be active at over 59 dB, the vibration sensor must detect weapon vibration, and the flame sensor must detect a flame.</a:t>
            </a:r>
          </a:p>
          <a:p>
            <a:r>
              <a:rPr lang="en-US" dirty="0"/>
              <a:t>If all three sensors are active, the IR LED emits a signal carrying the shooter’s ID data in the NEC protocol.</a:t>
            </a:r>
          </a:p>
          <a:p>
            <a:r>
              <a:rPr lang="en-US" dirty="0"/>
              <a:t>The signal is received by the Helmet or Vest. The Helmet validates the NEC protocol and performs an anti-cheat check via a photodiode, then sends the data to the Vest via ESP-NOW.</a:t>
            </a:r>
          </a:p>
          <a:p>
            <a:r>
              <a:rPr lang="en-US" dirty="0"/>
              <a:t>The Vest combines the IR data, GPS data, and anti-cheat status, then sends it to the server. The primary route is GPRS to </a:t>
            </a:r>
            <a:r>
              <a:rPr lang="en-US" dirty="0" err="1"/>
              <a:t>ThingSpeak</a:t>
            </a:r>
            <a:r>
              <a:rPr lang="en-US" dirty="0"/>
              <a:t>, followed by </a:t>
            </a:r>
            <a:r>
              <a:rPr lang="en-US" dirty="0" err="1"/>
              <a:t>Vercel</a:t>
            </a:r>
            <a:r>
              <a:rPr lang="en-US" dirty="0"/>
              <a:t>. If GPRS is unavailable, it automatically switches to </a:t>
            </a:r>
            <a:r>
              <a:rPr lang="en-US" dirty="0" err="1"/>
              <a:t>LoRaWAN</a:t>
            </a:r>
            <a:r>
              <a:rPr lang="en-US" dirty="0"/>
              <a:t> to TTN. All data is also stored on an SD card.</a:t>
            </a:r>
          </a:p>
        </p:txBody>
      </p:sp>
      <p:sp>
        <p:nvSpPr>
          <p:cNvPr id="119" name="Google Shape;119;p3:notes">
            <a:extLst>
              <a:ext uri="{FF2B5EF4-FFF2-40B4-BE49-F238E27FC236}">
                <a16:creationId xmlns:a16="http://schemas.microsoft.com/office/drawing/2014/main" id="{6947D44A-6A08-BE23-C3A9-4FD42AC7626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807355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C41CCF16-E1B6-6DC8-836E-7DE5CA8FD03D}"/>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E40D1DE9-42CE-D5CF-94B4-726D0359C9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BEF1E967-E4C6-CF9D-E72D-2DB94A6EA3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These are the results of testing the SIM900A GSM module.</a:t>
            </a:r>
          </a:p>
          <a:p>
            <a:r>
              <a:rPr lang="en-US" dirty="0"/>
              <a:t>The test was conducted five times. Complete GPS data, including latitude, longitude, altitude, satellite, RSSI, and SNR, was sent via GPRS to </a:t>
            </a:r>
            <a:r>
              <a:rPr lang="en-US" dirty="0" err="1"/>
              <a:t>ThingSpeak</a:t>
            </a:r>
            <a:r>
              <a:rPr lang="en-US" dirty="0"/>
              <a:t>.</a:t>
            </a:r>
          </a:p>
          <a:p>
            <a:r>
              <a:rPr lang="en-US" dirty="0"/>
              <a:t>Results: All 5 data points were successfully received by the server with 100% accuracy. Transmission latency ranged from 13 to 24 seconds; this variation is normal due to cellular network conditions.</a:t>
            </a:r>
          </a:p>
          <a:p>
            <a:r>
              <a:rPr lang="en-US" dirty="0"/>
              <a:t>Conclusion: GPRS functions well as either a primary or backup communication channel.</a:t>
            </a:r>
          </a:p>
          <a:p>
            <a:endParaRPr lang="en-US" dirty="0"/>
          </a:p>
        </p:txBody>
      </p:sp>
      <p:sp>
        <p:nvSpPr>
          <p:cNvPr id="119" name="Google Shape;119;p3:notes">
            <a:extLst>
              <a:ext uri="{FF2B5EF4-FFF2-40B4-BE49-F238E27FC236}">
                <a16:creationId xmlns:a16="http://schemas.microsoft.com/office/drawing/2014/main" id="{5A6AA9C6-3CF3-97BF-B0A7-3CF50B8E81F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567784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AEA1F828-F1FB-2ACC-2B28-B90A38CE5289}"/>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ACE0A6E1-FA90-0E8F-D560-B0EE44BAAA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F2302828-B7A1-85CB-DADD-0C49425A7D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These are the results of </a:t>
            </a:r>
            <a:r>
              <a:rPr lang="en-US" dirty="0" err="1"/>
              <a:t>LoRaWAN</a:t>
            </a:r>
            <a:r>
              <a:rPr lang="en-US" dirty="0"/>
              <a:t> communication testing via The Things Network.</a:t>
            </a:r>
          </a:p>
          <a:p>
            <a:r>
              <a:rPr lang="en-US" dirty="0"/>
              <a:t>The test involved 5 uplink data transmissions using the OTAA join method.</a:t>
            </a:r>
          </a:p>
          <a:p>
            <a:r>
              <a:rPr lang="en-US" dirty="0"/>
              <a:t>Results: all 5 data transmissions were successfully received by TTN and forwarded to </a:t>
            </a:r>
            <a:r>
              <a:rPr lang="en-US" dirty="0" err="1"/>
              <a:t>Vercel</a:t>
            </a:r>
            <a:r>
              <a:rPr lang="en-US" dirty="0"/>
              <a:t> via webhook. Latency was only 3 to 5 seconds — much faster than GPRS.</a:t>
            </a:r>
          </a:p>
          <a:p>
            <a:r>
              <a:rPr lang="en-US" dirty="0"/>
              <a:t>RSSI values of -70 dBm and SNR of 9 to 10 dB indicate good signal quality.</a:t>
            </a:r>
          </a:p>
          <a:p>
            <a:r>
              <a:rPr lang="en-US" dirty="0"/>
              <a:t>Conclusion: LoRa is highly reliable for real-time data transmission with low latency and low power consumption.</a:t>
            </a:r>
          </a:p>
        </p:txBody>
      </p:sp>
      <p:sp>
        <p:nvSpPr>
          <p:cNvPr id="119" name="Google Shape;119;p3:notes">
            <a:extLst>
              <a:ext uri="{FF2B5EF4-FFF2-40B4-BE49-F238E27FC236}">
                <a16:creationId xmlns:a16="http://schemas.microsoft.com/office/drawing/2014/main" id="{6AF51C98-91B0-A6A8-30FB-0176B495D50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890471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F2990A82-9097-7678-9089-A68D4B962268}"/>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6C9FB4E8-9164-B531-4ED6-8683BC8BB1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735A6368-1868-0F39-B80C-D8D8D75DE8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These are the results of a comprehensive system test involving a scenario where two players shoot at each other from a distance of 60 meters.</a:t>
            </a:r>
          </a:p>
          <a:p>
            <a:r>
              <a:rPr lang="en-US" dirty="0"/>
              <a:t>Unit 1 shoots at Unit 2: out of 5 shots, 4 successfully hit the helmet or vest, and 1 missed. Hit rate: 80%.</a:t>
            </a:r>
          </a:p>
          <a:p>
            <a:r>
              <a:rPr lang="en-US" dirty="0"/>
              <a:t>Unit 2 shoots at Unit 1: out of 5 shots, 4 successfully hit, and 1 missed. The hit rate is also 80%.</a:t>
            </a:r>
          </a:p>
          <a:p>
            <a:r>
              <a:rPr lang="en-US" dirty="0"/>
              <a:t>Overall total: 8 out of 10 shots were successfully detected.</a:t>
            </a:r>
          </a:p>
          <a:p>
            <a:r>
              <a:rPr lang="en-US" dirty="0"/>
              <a:t>All hit events were accurately recorded on the server along with GPS coordinate data, time of occurrence, IR status, anti-cheat status, RSSI value, and SNR. No cheating events were detected during the test.</a:t>
            </a:r>
          </a:p>
          <a:p>
            <a:r>
              <a:rPr lang="en-US" dirty="0"/>
              <a:t>This proves that the system is functioning as designed.</a:t>
            </a:r>
          </a:p>
        </p:txBody>
      </p:sp>
      <p:sp>
        <p:nvSpPr>
          <p:cNvPr id="119" name="Google Shape;119;p3:notes">
            <a:extLst>
              <a:ext uri="{FF2B5EF4-FFF2-40B4-BE49-F238E27FC236}">
                <a16:creationId xmlns:a16="http://schemas.microsoft.com/office/drawing/2014/main" id="{3DE20FDD-4BE9-D89D-3751-9AB086803F6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778882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800" dirty="0"/>
              <a:t>That concludes my presentation.</a:t>
            </a:r>
          </a:p>
          <a:p>
            <a:r>
              <a:rPr lang="en-US" sz="1800" dirty="0"/>
              <a:t>In summary: the ESP-NOW and LoRa-based Laser Tag system has been successfully implemented. The hit rate reached 80%, LoRa was 100% successful with a latency of 3–5 seconds, GPRS served as a reliable backup channel, and all data was accurately recorded on the real-time server.</a:t>
            </a:r>
          </a:p>
          <a:p>
            <a:r>
              <a:rPr lang="en-US" sz="1800" dirty="0"/>
              <a:t>Suggestions for future development: extend the IR range beyond 200 meters, test under extreme conditions, and develop a more interactive web dashboard.</a:t>
            </a:r>
          </a:p>
          <a:p>
            <a:r>
              <a:rPr lang="en-US" sz="1800" dirty="0"/>
              <a:t>I am ready to answer any questions from the examiners.</a:t>
            </a:r>
          </a:p>
          <a:p>
            <a:r>
              <a:rPr lang="en-US" sz="1800" dirty="0" err="1"/>
              <a:t>Wassalamu'alaikum</a:t>
            </a:r>
            <a:r>
              <a:rPr lang="en-US" sz="1800" dirty="0"/>
              <a:t> </a:t>
            </a:r>
            <a:r>
              <a:rPr lang="en-US" sz="1800" dirty="0" err="1"/>
              <a:t>Warahmatullahi</a:t>
            </a:r>
            <a:r>
              <a:rPr lang="en-US" sz="1800" dirty="0"/>
              <a:t> </a:t>
            </a:r>
            <a:r>
              <a:rPr lang="en-US" sz="1800" dirty="0" err="1"/>
              <a:t>Wabarakatuh</a:t>
            </a:r>
            <a:r>
              <a:rPr lang="en-US" sz="1800"/>
              <a:t>.</a:t>
            </a:r>
            <a:endParaRPr lang="en-US" sz="1800" dirty="0"/>
          </a:p>
        </p:txBody>
      </p:sp>
      <p:sp>
        <p:nvSpPr>
          <p:cNvPr id="208" name="Google Shape;20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1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6"/>
          <p:cNvSpPr>
            <a:spLocks noGrp="1"/>
          </p:cNvSpPr>
          <p:nvPr>
            <p:ph type="pic" idx="2"/>
          </p:nvPr>
        </p:nvSpPr>
        <p:spPr>
          <a:xfrm>
            <a:off x="1792288" y="612775"/>
            <a:ext cx="5486400" cy="4114800"/>
          </a:xfrm>
          <a:prstGeom prst="rect">
            <a:avLst/>
          </a:prstGeom>
          <a:noFill/>
          <a:ln>
            <a:noFill/>
          </a:ln>
        </p:spPr>
      </p:sp>
      <p:sp>
        <p:nvSpPr>
          <p:cNvPr id="68" name="Google Shape;68;p1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rot="-4300929">
            <a:off x="7738037" y="405770"/>
            <a:ext cx="14314219" cy="9624812"/>
          </a:xfrm>
          <a:custGeom>
            <a:avLst/>
            <a:gdLst/>
            <a:ahLst/>
            <a:cxnLst/>
            <a:rect l="l" t="t" r="r" b="b"/>
            <a:pathLst>
              <a:path w="14314219" h="4992084" extrusionOk="0">
                <a:moveTo>
                  <a:pt x="0" y="0"/>
                </a:moveTo>
                <a:lnTo>
                  <a:pt x="14314219" y="0"/>
                </a:lnTo>
                <a:lnTo>
                  <a:pt x="14314219" y="4992084"/>
                </a:lnTo>
                <a:lnTo>
                  <a:pt x="0" y="4992084"/>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0" name="Google Shape;90;p1"/>
          <p:cNvGrpSpPr/>
          <p:nvPr/>
        </p:nvGrpSpPr>
        <p:grpSpPr>
          <a:xfrm>
            <a:off x="15204577" y="1451003"/>
            <a:ext cx="857867" cy="857867"/>
            <a:chOff x="0" y="0"/>
            <a:chExt cx="812800" cy="812800"/>
          </a:xfrm>
        </p:grpSpPr>
        <p:sp>
          <p:nvSpPr>
            <p:cNvPr id="91" name="Google Shape;91;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93" name="Google Shape;93;p1"/>
          <p:cNvGrpSpPr/>
          <p:nvPr/>
        </p:nvGrpSpPr>
        <p:grpSpPr>
          <a:xfrm>
            <a:off x="15982019" y="732945"/>
            <a:ext cx="637633" cy="637633"/>
            <a:chOff x="0" y="0"/>
            <a:chExt cx="812800" cy="812800"/>
          </a:xfrm>
        </p:grpSpPr>
        <p:sp>
          <p:nvSpPr>
            <p:cNvPr id="94" name="Google Shape;94;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cmpd="sng">
              <a:solidFill>
                <a:srgbClr val="FDB03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pic>
        <p:nvPicPr>
          <p:cNvPr id="96" name="Google Shape;96;p1"/>
          <p:cNvPicPr preferRelativeResize="0"/>
          <p:nvPr/>
        </p:nvPicPr>
        <p:blipFill rotWithShape="1">
          <a:blip r:embed="rId4">
            <a:alphaModFix/>
          </a:blip>
          <a:srcRect/>
          <a:stretch/>
        </p:blipFill>
        <p:spPr>
          <a:xfrm>
            <a:off x="392885" y="336184"/>
            <a:ext cx="1511188" cy="1555619"/>
          </a:xfrm>
          <a:prstGeom prst="rect">
            <a:avLst/>
          </a:prstGeom>
          <a:noFill/>
          <a:ln>
            <a:noFill/>
          </a:ln>
        </p:spPr>
      </p:pic>
      <p:sp>
        <p:nvSpPr>
          <p:cNvPr id="97" name="Google Shape;97;p1"/>
          <p:cNvSpPr txBox="1"/>
          <p:nvPr/>
        </p:nvSpPr>
        <p:spPr>
          <a:xfrm>
            <a:off x="695672" y="2264637"/>
            <a:ext cx="13057804" cy="3323987"/>
          </a:xfrm>
          <a:prstGeom prst="rect">
            <a:avLst/>
          </a:prstGeom>
          <a:noFill/>
          <a:ln>
            <a:noFill/>
          </a:ln>
        </p:spPr>
        <p:txBody>
          <a:bodyPr spcFirstLastPara="1" wrap="square" lIns="0" tIns="0" rIns="0" bIns="0" anchor="t" anchorCtr="0">
            <a:spAutoFit/>
          </a:bodyPr>
          <a:lstStyle/>
          <a:p>
            <a:pPr>
              <a:lnSpc>
                <a:spcPct val="150000"/>
              </a:lnSpc>
            </a:pPr>
            <a:r>
              <a:rPr lang="de-DE" sz="3600" b="1" dirty="0">
                <a:solidFill>
                  <a:schemeClr val="accent5">
                    <a:lumMod val="75000"/>
                  </a:schemeClr>
                </a:solidFill>
                <a:latin typeface="Poppins" panose="00000500000000000000" pitchFamily="2" charset="0"/>
                <a:cs typeface="Poppins" panose="00000500000000000000" pitchFamily="2" charset="0"/>
              </a:rPr>
              <a:t>IMPLEMENTASI RANGKAIAN ELEKTRONIK DAN SISTEM KOMUNIKASI MULTI-PEMAIN UNTUK PERMAINAN </a:t>
            </a:r>
            <a:r>
              <a:rPr lang="de-DE" sz="3600" b="1" i="1" dirty="0">
                <a:solidFill>
                  <a:schemeClr val="accent5">
                    <a:lumMod val="75000"/>
                  </a:schemeClr>
                </a:solidFill>
                <a:latin typeface="Poppins" panose="00000500000000000000" pitchFamily="2" charset="0"/>
                <a:cs typeface="Poppins" panose="00000500000000000000" pitchFamily="2" charset="0"/>
              </a:rPr>
              <a:t>LASER TAG</a:t>
            </a:r>
            <a:r>
              <a:rPr lang="de-DE" sz="3600" b="1" dirty="0">
                <a:solidFill>
                  <a:schemeClr val="accent5">
                    <a:lumMod val="75000"/>
                  </a:schemeClr>
                </a:solidFill>
                <a:latin typeface="Poppins" panose="00000500000000000000" pitchFamily="2" charset="0"/>
                <a:cs typeface="Poppins" panose="00000500000000000000" pitchFamily="2" charset="0"/>
              </a:rPr>
              <a:t> MENGGUNAKAN ESP-NOW DAN </a:t>
            </a:r>
            <a:r>
              <a:rPr lang="de-DE" sz="3600" b="1" dirty="0" err="1">
                <a:solidFill>
                  <a:schemeClr val="accent5">
                    <a:lumMod val="75000"/>
                  </a:schemeClr>
                </a:solidFill>
                <a:latin typeface="Poppins" panose="00000500000000000000" pitchFamily="2" charset="0"/>
                <a:cs typeface="Poppins" panose="00000500000000000000" pitchFamily="2" charset="0"/>
              </a:rPr>
              <a:t>LoRa</a:t>
            </a:r>
            <a:endParaRPr lang="en-ID" sz="3600" dirty="0">
              <a:solidFill>
                <a:schemeClr val="accent5">
                  <a:lumMod val="75000"/>
                </a:schemeClr>
              </a:solidFill>
              <a:latin typeface="Poppins" panose="00000500000000000000" pitchFamily="2" charset="0"/>
              <a:cs typeface="Poppins" panose="00000500000000000000" pitchFamily="2" charset="0"/>
            </a:endParaRPr>
          </a:p>
          <a:p>
            <a:pPr>
              <a:lnSpc>
                <a:spcPct val="150000"/>
              </a:lnSpc>
            </a:pPr>
            <a:endParaRPr lang="en-ID" sz="3600" dirty="0">
              <a:solidFill>
                <a:schemeClr val="accent5">
                  <a:lumMod val="75000"/>
                </a:schemeClr>
              </a:solidFill>
              <a:latin typeface="Poppins" panose="00000500000000000000" pitchFamily="2" charset="0"/>
              <a:cs typeface="Poppins" panose="00000500000000000000" pitchFamily="2" charset="0"/>
            </a:endParaRPr>
          </a:p>
        </p:txBody>
      </p:sp>
      <p:sp>
        <p:nvSpPr>
          <p:cNvPr id="98" name="Google Shape;98;p1"/>
          <p:cNvSpPr txBox="1"/>
          <p:nvPr/>
        </p:nvSpPr>
        <p:spPr>
          <a:xfrm>
            <a:off x="695672" y="5961198"/>
            <a:ext cx="9019203" cy="29546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dirty="0">
                <a:solidFill>
                  <a:schemeClr val="dk1"/>
                </a:solidFill>
                <a:latin typeface="Britannic Bold" panose="020B0903060703020204" pitchFamily="34" charset="0"/>
                <a:ea typeface="Poppins"/>
                <a:cs typeface="Poppins"/>
                <a:sym typeface="Poppins"/>
              </a:rPr>
              <a:t>LATIFAN NURDIANSYAH - 244101077012</a:t>
            </a:r>
            <a:endParaRPr dirty="0">
              <a:latin typeface="Britannic Bold" panose="020B0903060703020204" pitchFamily="34" charset="0"/>
            </a:endParaRPr>
          </a:p>
          <a:p>
            <a:pPr marL="0" marR="0" lvl="0" indent="0" algn="l" rtl="0">
              <a:spcBef>
                <a:spcPts val="0"/>
              </a:spcBef>
              <a:spcAft>
                <a:spcPts val="0"/>
              </a:spcAft>
              <a:buNone/>
            </a:pPr>
            <a:endParaRPr sz="3200" b="1" dirty="0">
              <a:solidFill>
                <a:schemeClr val="dk1"/>
              </a:solidFill>
              <a:latin typeface="Poppins"/>
              <a:ea typeface="Poppins"/>
              <a:cs typeface="Poppins"/>
              <a:sym typeface="Poppins"/>
            </a:endParaRPr>
          </a:p>
          <a:p>
            <a:pPr marL="0" marR="0" lvl="0" indent="0" algn="l" rtl="0">
              <a:spcBef>
                <a:spcPts val="0"/>
              </a:spcBef>
              <a:spcAft>
                <a:spcPts val="0"/>
              </a:spcAft>
              <a:buNone/>
            </a:pPr>
            <a:endParaRPr sz="3200" b="1" dirty="0">
              <a:solidFill>
                <a:schemeClr val="dk1"/>
              </a:solidFill>
              <a:latin typeface="Poppins"/>
              <a:ea typeface="Poppins"/>
              <a:cs typeface="Poppins"/>
              <a:sym typeface="Poppins"/>
            </a:endParaRPr>
          </a:p>
          <a:p>
            <a:pPr marL="0" marR="0" lvl="0" indent="0" algn="l" rtl="0">
              <a:spcBef>
                <a:spcPts val="0"/>
              </a:spcBef>
              <a:spcAft>
                <a:spcPts val="0"/>
              </a:spcAft>
              <a:buNone/>
            </a:pPr>
            <a:r>
              <a:rPr lang="en-US" sz="3200" b="1" dirty="0">
                <a:solidFill>
                  <a:schemeClr val="dk1"/>
                </a:solidFill>
                <a:latin typeface="Britannic Bold" panose="020B0903060703020204" pitchFamily="34" charset="0"/>
                <a:ea typeface="Poppins"/>
                <a:cs typeface="Poppins"/>
                <a:sym typeface="Poppins"/>
              </a:rPr>
              <a:t>ADVISOR:</a:t>
            </a:r>
            <a:endParaRPr dirty="0">
              <a:latin typeface="Britannic Bold" panose="020B0903060703020204" pitchFamily="34" charset="0"/>
            </a:endParaRPr>
          </a:p>
          <a:p>
            <a:pPr marL="457200" lvl="0" indent="-457200">
              <a:buClr>
                <a:schemeClr val="dk1"/>
              </a:buClr>
              <a:buSzPts val="3200"/>
              <a:buFont typeface="Calibri"/>
              <a:buAutoNum type="arabicPeriod"/>
            </a:pPr>
            <a:r>
              <a:rPr lang="en-ID" sz="3200" b="1" dirty="0" err="1">
                <a:latin typeface="Poppins" panose="00000500000000000000" pitchFamily="2" charset="0"/>
                <a:cs typeface="Poppins" panose="00000500000000000000" pitchFamily="2" charset="0"/>
              </a:rPr>
              <a:t>Indrazno</a:t>
            </a:r>
            <a:r>
              <a:rPr lang="en-ID" sz="3200" b="1" dirty="0">
                <a:latin typeface="Poppins" panose="00000500000000000000" pitchFamily="2" charset="0"/>
                <a:cs typeface="Poppins" panose="00000500000000000000" pitchFamily="2" charset="0"/>
              </a:rPr>
              <a:t> </a:t>
            </a:r>
            <a:r>
              <a:rPr lang="en-ID" sz="3200" b="1" dirty="0" err="1">
                <a:latin typeface="Poppins" panose="00000500000000000000" pitchFamily="2" charset="0"/>
                <a:cs typeface="Poppins" panose="00000500000000000000" pitchFamily="2" charset="0"/>
              </a:rPr>
              <a:t>Siradjuddin</a:t>
            </a:r>
            <a:r>
              <a:rPr lang="en-ID" sz="3200" b="1" dirty="0">
                <a:latin typeface="Poppins" panose="00000500000000000000" pitchFamily="2" charset="0"/>
                <a:cs typeface="Poppins" panose="00000500000000000000" pitchFamily="2" charset="0"/>
              </a:rPr>
              <a:t>, S.T., M.T., Ph.D</a:t>
            </a:r>
            <a:r>
              <a:rPr lang="en-ID" dirty="0"/>
              <a:t>.</a:t>
            </a:r>
            <a:r>
              <a:rPr lang="en-US" sz="3200" b="1" dirty="0">
                <a:solidFill>
                  <a:schemeClr val="dk1"/>
                </a:solidFill>
                <a:latin typeface="Poppins"/>
                <a:ea typeface="Poppins"/>
                <a:cs typeface="Poppins"/>
                <a:sym typeface="Poppins"/>
              </a:rPr>
              <a:t>.</a:t>
            </a:r>
            <a:endParaRPr dirty="0"/>
          </a:p>
          <a:p>
            <a:pPr marL="457200" lvl="0" indent="-457200">
              <a:buClr>
                <a:schemeClr val="dk1"/>
              </a:buClr>
              <a:buSzPts val="3200"/>
              <a:buFont typeface="Calibri"/>
              <a:buAutoNum type="arabicPeriod"/>
            </a:pPr>
            <a:r>
              <a:rPr lang="en-ID" sz="3200" b="1" dirty="0" err="1">
                <a:latin typeface="Poppins" panose="00000500000000000000" pitchFamily="2" charset="0"/>
                <a:cs typeface="Poppins" panose="00000500000000000000" pitchFamily="2" charset="0"/>
              </a:rPr>
              <a:t>Gillang</a:t>
            </a:r>
            <a:r>
              <a:rPr lang="en-ID" sz="3200" b="1" dirty="0">
                <a:latin typeface="Poppins" panose="00000500000000000000" pitchFamily="2" charset="0"/>
                <a:cs typeface="Poppins" panose="00000500000000000000" pitchFamily="2" charset="0"/>
              </a:rPr>
              <a:t> Al Azhar, S.S.T., </a:t>
            </a:r>
            <a:r>
              <a:rPr lang="en-ID" sz="3200" b="1" dirty="0" err="1">
                <a:latin typeface="Poppins" panose="00000500000000000000" pitchFamily="2" charset="0"/>
                <a:cs typeface="Poppins" panose="00000500000000000000" pitchFamily="2" charset="0"/>
              </a:rPr>
              <a:t>M.Tr.T</a:t>
            </a:r>
            <a:r>
              <a:rPr lang="en-ID" sz="3200" b="1" dirty="0">
                <a:latin typeface="Poppins" panose="00000500000000000000" pitchFamily="2" charset="0"/>
                <a:cs typeface="Poppins" panose="00000500000000000000" pitchFamily="2" charset="0"/>
              </a:rPr>
              <a:t>.</a:t>
            </a:r>
            <a:endParaRPr sz="3200" b="1" dirty="0">
              <a:latin typeface="Poppins" panose="00000500000000000000" pitchFamily="2" charset="0"/>
              <a:cs typeface="Poppins" panose="00000500000000000000" pitchFamily="2" charset="0"/>
            </a:endParaRPr>
          </a:p>
        </p:txBody>
      </p:sp>
      <p:sp>
        <p:nvSpPr>
          <p:cNvPr id="99" name="Google Shape;99;p1"/>
          <p:cNvSpPr txBox="1"/>
          <p:nvPr/>
        </p:nvSpPr>
        <p:spPr>
          <a:xfrm>
            <a:off x="2667000" y="478496"/>
            <a:ext cx="12579574" cy="972959"/>
          </a:xfrm>
          <a:prstGeom prst="rect">
            <a:avLst/>
          </a:prstGeom>
          <a:noFill/>
          <a:ln>
            <a:noFill/>
          </a:ln>
        </p:spPr>
        <p:txBody>
          <a:bodyPr spcFirstLastPara="1" wrap="square" lIns="0" tIns="0" rIns="0" bIns="0" anchor="t" anchorCtr="0">
            <a:spAutoFit/>
          </a:bodyPr>
          <a:lstStyle/>
          <a:p>
            <a:pPr marL="0" marR="0" lvl="0" indent="0" algn="l" rtl="0">
              <a:lnSpc>
                <a:spcPct val="150370"/>
              </a:lnSpc>
              <a:spcBef>
                <a:spcPts val="0"/>
              </a:spcBef>
              <a:spcAft>
                <a:spcPts val="0"/>
              </a:spcAft>
              <a:buNone/>
            </a:pPr>
            <a:r>
              <a:rPr lang="en-US" sz="5400" b="1">
                <a:solidFill>
                  <a:srgbClr val="E36C09"/>
                </a:solidFill>
                <a:latin typeface="Poppins"/>
                <a:ea typeface="Poppins"/>
                <a:cs typeface="Poppins"/>
                <a:sym typeface="Poppins"/>
              </a:rPr>
              <a:t>Final Project Progress Report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p:nvPr/>
        </p:nvSpPr>
        <p:spPr>
          <a:xfrm rot="5400000" flipH="1">
            <a:off x="-4693341" y="1346368"/>
            <a:ext cx="14314219" cy="4992084"/>
          </a:xfrm>
          <a:custGeom>
            <a:avLst/>
            <a:gdLst/>
            <a:ahLst/>
            <a:cxnLst/>
            <a:rect l="l" t="t" r="r" b="b"/>
            <a:pathLst>
              <a:path w="14314219" h="4992084" extrusionOk="0">
                <a:moveTo>
                  <a:pt x="0" y="4992084"/>
                </a:moveTo>
                <a:lnTo>
                  <a:pt x="14314219" y="4992084"/>
                </a:lnTo>
                <a:lnTo>
                  <a:pt x="14314219" y="0"/>
                </a:lnTo>
                <a:lnTo>
                  <a:pt x="0" y="0"/>
                </a:lnTo>
                <a:lnTo>
                  <a:pt x="0" y="4992084"/>
                </a:lnTo>
                <a:close/>
              </a:path>
            </a:pathLst>
          </a:custGeom>
          <a:blipFill rotWithShape="1">
            <a:blip r:embed="rId3">
              <a:alphaModFix/>
            </a:blip>
            <a:stretch>
              <a:fillRect/>
            </a:stretch>
          </a:blipFill>
          <a:ln>
            <a:noFill/>
          </a:ln>
        </p:spPr>
      </p:sp>
      <p:sp>
        <p:nvSpPr>
          <p:cNvPr id="108" name="Google Shape;108;p2"/>
          <p:cNvSpPr txBox="1"/>
          <p:nvPr/>
        </p:nvSpPr>
        <p:spPr>
          <a:xfrm>
            <a:off x="9144001" y="360218"/>
            <a:ext cx="9143999"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dirty="0">
                <a:solidFill>
                  <a:srgbClr val="0E8388"/>
                </a:solidFill>
                <a:latin typeface="Poppins"/>
                <a:ea typeface="Poppins"/>
                <a:cs typeface="Poppins"/>
                <a:sym typeface="Poppins"/>
              </a:rPr>
              <a:t>BACKGROUND </a:t>
            </a:r>
            <a:endParaRPr dirty="0"/>
          </a:p>
        </p:txBody>
      </p:sp>
      <p:grpSp>
        <p:nvGrpSpPr>
          <p:cNvPr id="109" name="Google Shape;109;p2"/>
          <p:cNvGrpSpPr/>
          <p:nvPr/>
        </p:nvGrpSpPr>
        <p:grpSpPr>
          <a:xfrm>
            <a:off x="4321277" y="1130223"/>
            <a:ext cx="12954000" cy="7219299"/>
            <a:chOff x="4288377" y="1003143"/>
            <a:chExt cx="12954000" cy="3544131"/>
          </a:xfrm>
        </p:grpSpPr>
        <p:sp>
          <p:nvSpPr>
            <p:cNvPr id="110" name="Google Shape;110;p2"/>
            <p:cNvSpPr/>
            <p:nvPr/>
          </p:nvSpPr>
          <p:spPr>
            <a:xfrm>
              <a:off x="4288377" y="1547639"/>
              <a:ext cx="12954000" cy="2999635"/>
            </a:xfrm>
            <a:custGeom>
              <a:avLst/>
              <a:gdLst/>
              <a:ahLst/>
              <a:cxnLst/>
              <a:rect l="l" t="t" r="r" b="b"/>
              <a:pathLst>
                <a:path w="12954000" h="3112757" extrusionOk="0">
                  <a:moveTo>
                    <a:pt x="0" y="0"/>
                  </a:moveTo>
                  <a:lnTo>
                    <a:pt x="12954000" y="0"/>
                  </a:lnTo>
                  <a:lnTo>
                    <a:pt x="12954000" y="3112757"/>
                  </a:lnTo>
                  <a:lnTo>
                    <a:pt x="0" y="3112757"/>
                  </a:lnTo>
                  <a:lnTo>
                    <a:pt x="0" y="0"/>
                  </a:lnTo>
                  <a:close/>
                </a:path>
              </a:pathLst>
            </a:custGeom>
            <a:solidFill>
              <a:schemeClr val="lt1">
                <a:alpha val="89803"/>
              </a:schemeClr>
            </a:solidFill>
            <a:ln w="25400" cap="flat" cmpd="sng">
              <a:solidFill>
                <a:srgbClr val="429BB2"/>
              </a:solidFill>
              <a:prstDash val="solid"/>
              <a:round/>
              <a:headEnd type="none" w="sm" len="sm"/>
              <a:tailEnd type="none" w="sm" len="sm"/>
            </a:ln>
          </p:spPr>
          <p:txBody>
            <a:bodyPr spcFirstLastPara="1" wrap="square" lIns="1005350" tIns="395725" rIns="1005350" bIns="142225" anchor="t" anchorCtr="0">
              <a:noAutofit/>
            </a:bodyPr>
            <a:lstStyle/>
            <a:p>
              <a:pPr marL="228600" marR="0" lvl="1" indent="-228600" algn="just" rtl="0">
                <a:lnSpc>
                  <a:spcPct val="100000"/>
                </a:lnSpc>
                <a:spcBef>
                  <a:spcPts val="0"/>
                </a:spcBef>
                <a:spcAft>
                  <a:spcPts val="0"/>
                </a:spcAft>
                <a:buClr>
                  <a:schemeClr val="dk1"/>
                </a:buClr>
                <a:buSzPts val="2000"/>
                <a:buFont typeface="Times New Roman"/>
                <a:buChar char="•"/>
              </a:pPr>
              <a:r>
                <a:rPr lang="en-US" sz="2400" dirty="0">
                  <a:latin typeface="Poppins" panose="00000500000000000000" pitchFamily="2" charset="0"/>
                  <a:cs typeface="Poppins" panose="00000500000000000000" pitchFamily="2" charset="0"/>
                </a:rPr>
                <a:t>Conventional Laser Tag systems suffer from key limitations—including inaccurate shot detection, lack of real-time player positioning, and minimal data exchange reducing gameplay immersion and objective assessment, while military-grade alternatives like MILES are too costly and complex for recreational or community use.</a:t>
              </a:r>
            </a:p>
            <a:p>
              <a:pPr marL="228600" marR="0" lvl="1" indent="-228600" algn="just" rtl="0">
                <a:lnSpc>
                  <a:spcPct val="100000"/>
                </a:lnSpc>
                <a:spcBef>
                  <a:spcPts val="0"/>
                </a:spcBef>
                <a:spcAft>
                  <a:spcPts val="0"/>
                </a:spcAft>
                <a:buClr>
                  <a:schemeClr val="dk1"/>
                </a:buClr>
                <a:buSzPts val="2000"/>
                <a:buFont typeface="Times New Roman"/>
                <a:buChar char="•"/>
              </a:pPr>
              <a:r>
                <a:rPr lang="en-US" sz="2400" dirty="0">
                  <a:latin typeface="Poppins" panose="00000500000000000000" pitchFamily="2" charset="0"/>
                  <a:cs typeface="Poppins" panose="00000500000000000000" pitchFamily="2" charset="0"/>
                </a:rPr>
                <a:t>Recent IoT advancements enable affordable, connected Laser Tag systems that combine two complementary wireless protocols: ESP-NOW for ultra-low-latency, short-range communication between players, and LoRa for energy-efficient, long-range data transmission to a central server.</a:t>
              </a:r>
            </a:p>
            <a:p>
              <a:pPr marL="228600" marR="0" lvl="1" indent="-228600" algn="just" rtl="0">
                <a:lnSpc>
                  <a:spcPct val="100000"/>
                </a:lnSpc>
                <a:spcBef>
                  <a:spcPts val="0"/>
                </a:spcBef>
                <a:spcAft>
                  <a:spcPts val="0"/>
                </a:spcAft>
                <a:buClr>
                  <a:schemeClr val="dk1"/>
                </a:buClr>
                <a:buSzPts val="2000"/>
                <a:buFont typeface="Times New Roman"/>
                <a:buChar char="•"/>
              </a:pPr>
              <a:r>
                <a:rPr lang="en-US" sz="2400" dirty="0">
                  <a:latin typeface="Poppins" panose="00000500000000000000" pitchFamily="2" charset="0"/>
                  <a:cs typeface="Poppins" panose="00000500000000000000" pitchFamily="2" charset="0"/>
                </a:rPr>
                <a:t>A fully integrated ESP32-based hardware platform, equipped with IR transceivers, GPS modules, and user feedback interfaces, provides a responsive, scalable, and extensible foundation suitable for both entertainment and simulation-based training through an effective two-tier communication architecture</a:t>
              </a:r>
            </a:p>
            <a:p>
              <a:pPr marL="228600" marR="0" lvl="1" indent="-228600" algn="just" rtl="0">
                <a:lnSpc>
                  <a:spcPct val="100000"/>
                </a:lnSpc>
                <a:spcBef>
                  <a:spcPts val="0"/>
                </a:spcBef>
                <a:spcAft>
                  <a:spcPts val="0"/>
                </a:spcAft>
                <a:buClr>
                  <a:schemeClr val="dk1"/>
                </a:buClr>
                <a:buSzPts val="2000"/>
                <a:buFont typeface="Times New Roman"/>
                <a:buChar char="•"/>
              </a:pPr>
              <a:endParaRPr lang="en-US" sz="2200" dirty="0">
                <a:latin typeface="Poppins" panose="00000500000000000000" pitchFamily="2" charset="0"/>
                <a:cs typeface="Poppins" panose="00000500000000000000" pitchFamily="2" charset="0"/>
              </a:endParaRPr>
            </a:p>
            <a:p>
              <a:pPr marL="228600" marR="0" lvl="1" indent="-228600" algn="just" rtl="0">
                <a:lnSpc>
                  <a:spcPct val="100000"/>
                </a:lnSpc>
                <a:spcBef>
                  <a:spcPts val="0"/>
                </a:spcBef>
                <a:spcAft>
                  <a:spcPts val="0"/>
                </a:spcAft>
                <a:buClr>
                  <a:schemeClr val="dk1"/>
                </a:buClr>
                <a:buSzPts val="2000"/>
                <a:buFont typeface="Times New Roman"/>
                <a:buChar char="•"/>
              </a:pPr>
              <a:endParaRPr sz="2000" b="1" i="0" u="none" strike="noStrike" cap="none" dirty="0">
                <a:solidFill>
                  <a:schemeClr val="dk1"/>
                </a:solidFill>
                <a:latin typeface="Poppins" panose="00000500000000000000" pitchFamily="2" charset="0"/>
                <a:ea typeface="Times New Roman"/>
                <a:cs typeface="Poppins" panose="00000500000000000000" pitchFamily="2" charset="0"/>
                <a:sym typeface="Times New Roman"/>
              </a:endParaRPr>
            </a:p>
          </p:txBody>
        </p:sp>
        <p:sp>
          <p:nvSpPr>
            <p:cNvPr id="111" name="Google Shape;111;p2"/>
            <p:cNvSpPr/>
            <p:nvPr/>
          </p:nvSpPr>
          <p:spPr>
            <a:xfrm>
              <a:off x="4959808" y="1003143"/>
              <a:ext cx="9067800" cy="544496"/>
            </a:xfrm>
            <a:custGeom>
              <a:avLst/>
              <a:gdLst/>
              <a:ahLst/>
              <a:cxnLst/>
              <a:rect l="l" t="t" r="r" b="b"/>
              <a:pathLst>
                <a:path w="9067800" h="912960" extrusionOk="0">
                  <a:moveTo>
                    <a:pt x="0" y="152163"/>
                  </a:moveTo>
                  <a:cubicBezTo>
                    <a:pt x="0" y="68126"/>
                    <a:pt x="68126" y="0"/>
                    <a:pt x="152163" y="0"/>
                  </a:cubicBezTo>
                  <a:lnTo>
                    <a:pt x="8915637" y="0"/>
                  </a:lnTo>
                  <a:cubicBezTo>
                    <a:pt x="8999674" y="0"/>
                    <a:pt x="9067800" y="68126"/>
                    <a:pt x="9067800" y="152163"/>
                  </a:cubicBezTo>
                  <a:lnTo>
                    <a:pt x="9067800" y="760797"/>
                  </a:lnTo>
                  <a:cubicBezTo>
                    <a:pt x="9067800" y="844834"/>
                    <a:pt x="8999674" y="912960"/>
                    <a:pt x="8915637" y="912960"/>
                  </a:cubicBezTo>
                  <a:lnTo>
                    <a:pt x="152163" y="912960"/>
                  </a:lnTo>
                  <a:cubicBezTo>
                    <a:pt x="68126" y="912960"/>
                    <a:pt x="0" y="844834"/>
                    <a:pt x="0" y="760797"/>
                  </a:cubicBezTo>
                  <a:lnTo>
                    <a:pt x="0" y="152163"/>
                  </a:lnTo>
                  <a:close/>
                </a:path>
              </a:pathLst>
            </a:custGeom>
            <a:solidFill>
              <a:srgbClr val="429BB2"/>
            </a:solidFill>
            <a:ln w="25400" cap="flat" cmpd="sng">
              <a:solidFill>
                <a:schemeClr val="lt1"/>
              </a:solidFill>
              <a:prstDash val="solid"/>
              <a:round/>
              <a:headEnd type="none" w="sm" len="sm"/>
              <a:tailEnd type="none" w="sm" len="sm"/>
            </a:ln>
          </p:spPr>
          <p:txBody>
            <a:bodyPr spcFirstLastPara="1" wrap="square" lIns="387300" tIns="44550" rIns="387300" bIns="44550" anchor="ctr" anchorCtr="0">
              <a:noAutofit/>
            </a:bodyPr>
            <a:lstStyle/>
            <a:p>
              <a:pPr marL="0" marR="0" lvl="0" indent="0" algn="l" rtl="0">
                <a:lnSpc>
                  <a:spcPct val="90000"/>
                </a:lnSpc>
                <a:spcBef>
                  <a:spcPts val="0"/>
                </a:spcBef>
                <a:spcAft>
                  <a:spcPts val="0"/>
                </a:spcAft>
                <a:buClr>
                  <a:schemeClr val="lt1"/>
                </a:buClr>
                <a:buSzPts val="2500"/>
                <a:buFont typeface="Times New Roman"/>
                <a:buNone/>
              </a:pPr>
              <a:r>
                <a:rPr lang="en-US" sz="2500" b="1">
                  <a:solidFill>
                    <a:schemeClr val="lt1"/>
                  </a:solidFill>
                  <a:latin typeface="Times New Roman"/>
                  <a:ea typeface="Times New Roman"/>
                  <a:cs typeface="Times New Roman"/>
                  <a:sym typeface="Times New Roman"/>
                </a:rPr>
                <a:t>BACKGROUND</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589F8170-5DFA-B0D2-DE76-F579B9A9F03C}"/>
            </a:ext>
          </a:extLst>
        </p:cNvPr>
        <p:cNvGrpSpPr/>
        <p:nvPr/>
      </p:nvGrpSpPr>
      <p:grpSpPr>
        <a:xfrm>
          <a:off x="0" y="0"/>
          <a:ext cx="0" cy="0"/>
          <a:chOff x="0" y="0"/>
          <a:chExt cx="0" cy="0"/>
        </a:xfrm>
      </p:grpSpPr>
      <p:sp>
        <p:nvSpPr>
          <p:cNvPr id="107" name="Google Shape;107;p2">
            <a:extLst>
              <a:ext uri="{FF2B5EF4-FFF2-40B4-BE49-F238E27FC236}">
                <a16:creationId xmlns:a16="http://schemas.microsoft.com/office/drawing/2014/main" id="{6399DCC4-8ED6-89D9-206B-EFD93170DA0C}"/>
              </a:ext>
            </a:extLst>
          </p:cNvPr>
          <p:cNvSpPr/>
          <p:nvPr/>
        </p:nvSpPr>
        <p:spPr>
          <a:xfrm rot="5400000" flipH="1">
            <a:off x="-4693341" y="1346368"/>
            <a:ext cx="14314219" cy="4992084"/>
          </a:xfrm>
          <a:custGeom>
            <a:avLst/>
            <a:gdLst/>
            <a:ahLst/>
            <a:cxnLst/>
            <a:rect l="l" t="t" r="r" b="b"/>
            <a:pathLst>
              <a:path w="14314219" h="4992084" extrusionOk="0">
                <a:moveTo>
                  <a:pt x="0" y="4992084"/>
                </a:moveTo>
                <a:lnTo>
                  <a:pt x="14314219" y="4992084"/>
                </a:lnTo>
                <a:lnTo>
                  <a:pt x="14314219" y="0"/>
                </a:lnTo>
                <a:lnTo>
                  <a:pt x="0" y="0"/>
                </a:lnTo>
                <a:lnTo>
                  <a:pt x="0" y="4992084"/>
                </a:lnTo>
                <a:close/>
              </a:path>
            </a:pathLst>
          </a:custGeom>
          <a:blipFill rotWithShape="1">
            <a:blip r:embed="rId3">
              <a:alphaModFix/>
            </a:blip>
            <a:stretch>
              <a:fillRect/>
            </a:stretch>
          </a:blipFill>
          <a:ln>
            <a:noFill/>
          </a:ln>
        </p:spPr>
      </p:sp>
      <p:sp>
        <p:nvSpPr>
          <p:cNvPr id="108" name="Google Shape;108;p2">
            <a:extLst>
              <a:ext uri="{FF2B5EF4-FFF2-40B4-BE49-F238E27FC236}">
                <a16:creationId xmlns:a16="http://schemas.microsoft.com/office/drawing/2014/main" id="{E4102D6C-4EA2-2C60-56D9-A3E07DEF8E07}"/>
              </a:ext>
            </a:extLst>
          </p:cNvPr>
          <p:cNvSpPr txBox="1"/>
          <p:nvPr/>
        </p:nvSpPr>
        <p:spPr>
          <a:xfrm>
            <a:off x="8756191" y="356056"/>
            <a:ext cx="9143999"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dirty="0">
                <a:solidFill>
                  <a:srgbClr val="0E8388"/>
                </a:solidFill>
                <a:latin typeface="Poppins"/>
                <a:ea typeface="Poppins"/>
                <a:cs typeface="Poppins"/>
                <a:sym typeface="Poppins"/>
              </a:rPr>
              <a:t>PROBLEM FORMULATION </a:t>
            </a:r>
            <a:endParaRPr dirty="0"/>
          </a:p>
        </p:txBody>
      </p:sp>
      <p:grpSp>
        <p:nvGrpSpPr>
          <p:cNvPr id="109" name="Google Shape;109;p2">
            <a:extLst>
              <a:ext uri="{FF2B5EF4-FFF2-40B4-BE49-F238E27FC236}">
                <a16:creationId xmlns:a16="http://schemas.microsoft.com/office/drawing/2014/main" id="{B73A1BEA-2765-3A08-7188-C7905569358E}"/>
              </a:ext>
            </a:extLst>
          </p:cNvPr>
          <p:cNvGrpSpPr/>
          <p:nvPr/>
        </p:nvGrpSpPr>
        <p:grpSpPr>
          <a:xfrm>
            <a:off x="4369435" y="1421880"/>
            <a:ext cx="12954000" cy="5786771"/>
            <a:chOff x="4288377" y="1003143"/>
            <a:chExt cx="12954000" cy="2840868"/>
          </a:xfrm>
        </p:grpSpPr>
        <p:sp>
          <p:nvSpPr>
            <p:cNvPr id="110" name="Google Shape;110;p2">
              <a:extLst>
                <a:ext uri="{FF2B5EF4-FFF2-40B4-BE49-F238E27FC236}">
                  <a16:creationId xmlns:a16="http://schemas.microsoft.com/office/drawing/2014/main" id="{D25095AE-563B-63F5-5927-C6BA48CBB46C}"/>
                </a:ext>
              </a:extLst>
            </p:cNvPr>
            <p:cNvSpPr/>
            <p:nvPr/>
          </p:nvSpPr>
          <p:spPr>
            <a:xfrm>
              <a:off x="4288377" y="1665257"/>
              <a:ext cx="12954000" cy="2178754"/>
            </a:xfrm>
            <a:custGeom>
              <a:avLst/>
              <a:gdLst/>
              <a:ahLst/>
              <a:cxnLst/>
              <a:rect l="l" t="t" r="r" b="b"/>
              <a:pathLst>
                <a:path w="12954000" h="3112757" extrusionOk="0">
                  <a:moveTo>
                    <a:pt x="0" y="0"/>
                  </a:moveTo>
                  <a:lnTo>
                    <a:pt x="12954000" y="0"/>
                  </a:lnTo>
                  <a:lnTo>
                    <a:pt x="12954000" y="3112757"/>
                  </a:lnTo>
                  <a:lnTo>
                    <a:pt x="0" y="3112757"/>
                  </a:lnTo>
                  <a:lnTo>
                    <a:pt x="0" y="0"/>
                  </a:lnTo>
                  <a:close/>
                </a:path>
              </a:pathLst>
            </a:custGeom>
            <a:solidFill>
              <a:schemeClr val="lt1">
                <a:alpha val="89803"/>
              </a:schemeClr>
            </a:solidFill>
            <a:ln w="25400" cap="flat" cmpd="sng">
              <a:solidFill>
                <a:srgbClr val="429BB2"/>
              </a:solidFill>
              <a:prstDash val="solid"/>
              <a:round/>
              <a:headEnd type="none" w="sm" len="sm"/>
              <a:tailEnd type="none" w="sm" len="sm"/>
            </a:ln>
          </p:spPr>
          <p:txBody>
            <a:bodyPr spcFirstLastPara="1" wrap="square" lIns="1005350" tIns="395725" rIns="1005350" bIns="142225" anchor="t" anchorCtr="0">
              <a:noAutofit/>
            </a:bodyPr>
            <a:lstStyle/>
            <a:p>
              <a:pPr marL="228600" lvl="1" indent="-228600">
                <a:lnSpc>
                  <a:spcPct val="150000"/>
                </a:lnSpc>
                <a:buClr>
                  <a:schemeClr val="dk1"/>
                </a:buClr>
                <a:buSzPts val="2000"/>
                <a:buFont typeface="Arial"/>
                <a:buChar char="•"/>
              </a:pPr>
              <a:r>
                <a:rPr lang="en-US" sz="2400" dirty="0">
                  <a:solidFill>
                    <a:schemeClr val="dk1"/>
                  </a:solidFill>
                  <a:latin typeface="Poppins" panose="00000500000000000000" pitchFamily="2" charset="0"/>
                  <a:ea typeface="Times New Roman"/>
                  <a:cs typeface="Poppins" panose="00000500000000000000" pitchFamily="2" charset="0"/>
                  <a:sym typeface="Times New Roman"/>
                </a:rPr>
                <a:t>How to implement electronic circuits in shooting systems (weapons) and receiver circuits (helmets and vests), and build a two-way communication system between the server and multiple player units?</a:t>
              </a:r>
            </a:p>
            <a:p>
              <a:pPr marL="228600" lvl="1" indent="-228600">
                <a:lnSpc>
                  <a:spcPct val="150000"/>
                </a:lnSpc>
                <a:buClr>
                  <a:schemeClr val="dk1"/>
                </a:buClr>
                <a:buSzPts val="2000"/>
                <a:buFont typeface="Arial"/>
                <a:buChar char="•"/>
              </a:pPr>
              <a:r>
                <a:rPr lang="en-US" sz="2400" dirty="0">
                  <a:latin typeface="Poppins" panose="00000500000000000000" pitchFamily="2" charset="0"/>
                  <a:cs typeface="Poppins" panose="00000500000000000000" pitchFamily="2" charset="0"/>
                </a:rPr>
                <a:t>How to integrate the ESP-NOW and LoRa protocols on microcontrollers to support real-time communication in Laser Tag games?</a:t>
              </a:r>
            </a:p>
            <a:p>
              <a:pPr marL="228600" lvl="1" indent="-228600">
                <a:lnSpc>
                  <a:spcPct val="150000"/>
                </a:lnSpc>
                <a:buClr>
                  <a:schemeClr val="dk1"/>
                </a:buClr>
                <a:buSzPts val="2000"/>
                <a:buFont typeface="Arial"/>
                <a:buChar char="•"/>
              </a:pPr>
              <a:r>
                <a:rPr lang="en-US" sz="2400" dirty="0">
                  <a:latin typeface="Poppins" panose="00000500000000000000" pitchFamily="2" charset="0"/>
                  <a:cs typeface="Poppins" panose="00000500000000000000" pitchFamily="2" charset="0"/>
                </a:rPr>
                <a:t>How to implement a two-way communication system to support real-time score recording?</a:t>
              </a:r>
              <a:endParaRPr lang="en-US" sz="2200" dirty="0">
                <a:latin typeface="Poppins" panose="00000500000000000000" pitchFamily="2" charset="0"/>
                <a:cs typeface="Poppins" panose="00000500000000000000" pitchFamily="2" charset="0"/>
              </a:endParaRPr>
            </a:p>
            <a:p>
              <a:pPr marL="228600" marR="0" lvl="1" indent="-228600" algn="just" rtl="0">
                <a:lnSpc>
                  <a:spcPct val="100000"/>
                </a:lnSpc>
                <a:spcBef>
                  <a:spcPts val="0"/>
                </a:spcBef>
                <a:spcAft>
                  <a:spcPts val="0"/>
                </a:spcAft>
                <a:buClr>
                  <a:schemeClr val="dk1"/>
                </a:buClr>
                <a:buSzPts val="2000"/>
                <a:buFont typeface="Times New Roman"/>
                <a:buChar char="•"/>
              </a:pPr>
              <a:endParaRPr sz="2000" b="1" i="0" u="none" strike="noStrike" cap="none" dirty="0">
                <a:solidFill>
                  <a:schemeClr val="dk1"/>
                </a:solidFill>
                <a:latin typeface="Poppins" panose="00000500000000000000" pitchFamily="2" charset="0"/>
                <a:ea typeface="Times New Roman"/>
                <a:cs typeface="Poppins" panose="00000500000000000000" pitchFamily="2" charset="0"/>
                <a:sym typeface="Times New Roman"/>
              </a:endParaRPr>
            </a:p>
          </p:txBody>
        </p:sp>
        <p:sp>
          <p:nvSpPr>
            <p:cNvPr id="111" name="Google Shape;111;p2">
              <a:extLst>
                <a:ext uri="{FF2B5EF4-FFF2-40B4-BE49-F238E27FC236}">
                  <a16:creationId xmlns:a16="http://schemas.microsoft.com/office/drawing/2014/main" id="{DA19FD56-1BDB-9F78-FB25-15C9CBE9B08F}"/>
                </a:ext>
              </a:extLst>
            </p:cNvPr>
            <p:cNvSpPr/>
            <p:nvPr/>
          </p:nvSpPr>
          <p:spPr>
            <a:xfrm>
              <a:off x="4959808" y="1003143"/>
              <a:ext cx="9067800" cy="658789"/>
            </a:xfrm>
            <a:custGeom>
              <a:avLst/>
              <a:gdLst/>
              <a:ahLst/>
              <a:cxnLst/>
              <a:rect l="l" t="t" r="r" b="b"/>
              <a:pathLst>
                <a:path w="9067800" h="912960" extrusionOk="0">
                  <a:moveTo>
                    <a:pt x="0" y="152163"/>
                  </a:moveTo>
                  <a:cubicBezTo>
                    <a:pt x="0" y="68126"/>
                    <a:pt x="68126" y="0"/>
                    <a:pt x="152163" y="0"/>
                  </a:cubicBezTo>
                  <a:lnTo>
                    <a:pt x="8915637" y="0"/>
                  </a:lnTo>
                  <a:cubicBezTo>
                    <a:pt x="8999674" y="0"/>
                    <a:pt x="9067800" y="68126"/>
                    <a:pt x="9067800" y="152163"/>
                  </a:cubicBezTo>
                  <a:lnTo>
                    <a:pt x="9067800" y="760797"/>
                  </a:lnTo>
                  <a:cubicBezTo>
                    <a:pt x="9067800" y="844834"/>
                    <a:pt x="8999674" y="912960"/>
                    <a:pt x="8915637" y="912960"/>
                  </a:cubicBezTo>
                  <a:lnTo>
                    <a:pt x="152163" y="912960"/>
                  </a:lnTo>
                  <a:cubicBezTo>
                    <a:pt x="68126" y="912960"/>
                    <a:pt x="0" y="844834"/>
                    <a:pt x="0" y="760797"/>
                  </a:cubicBezTo>
                  <a:lnTo>
                    <a:pt x="0" y="152163"/>
                  </a:lnTo>
                  <a:close/>
                </a:path>
              </a:pathLst>
            </a:custGeom>
            <a:solidFill>
              <a:srgbClr val="429BB2"/>
            </a:solidFill>
            <a:ln w="25400" cap="flat" cmpd="sng">
              <a:solidFill>
                <a:schemeClr val="lt1"/>
              </a:solidFill>
              <a:prstDash val="solid"/>
              <a:round/>
              <a:headEnd type="none" w="sm" len="sm"/>
              <a:tailEnd type="none" w="sm" len="sm"/>
            </a:ln>
          </p:spPr>
          <p:txBody>
            <a:bodyPr spcFirstLastPara="1" wrap="square" lIns="387300" tIns="44550" rIns="387300" bIns="44550" anchor="ctr" anchorCtr="0">
              <a:noAutofit/>
            </a:bodyPr>
            <a:lstStyle/>
            <a:p>
              <a:pPr marL="0" marR="0" lvl="0" indent="0" algn="l" rtl="0">
                <a:lnSpc>
                  <a:spcPct val="90000"/>
                </a:lnSpc>
                <a:spcBef>
                  <a:spcPts val="0"/>
                </a:spcBef>
                <a:spcAft>
                  <a:spcPts val="0"/>
                </a:spcAft>
                <a:buClr>
                  <a:schemeClr val="lt1"/>
                </a:buClr>
                <a:buSzPts val="2500"/>
                <a:buFont typeface="Times New Roman"/>
                <a:buNone/>
              </a:pPr>
              <a:r>
                <a:rPr lang="en-US" sz="2500" b="1" dirty="0">
                  <a:solidFill>
                    <a:schemeClr val="lt1"/>
                  </a:solidFill>
                  <a:latin typeface="Poppins" panose="00000500000000000000" pitchFamily="2" charset="0"/>
                  <a:cs typeface="Poppins" panose="00000500000000000000" pitchFamily="2" charset="0"/>
                  <a:sym typeface="Times New Roman"/>
                </a:rPr>
                <a:t>PROBLEM FORMULATION</a:t>
              </a:r>
              <a:endParaRPr dirty="0">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3380275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A0C2F2DA-ADD4-ED86-9EC3-B5092246BD0B}"/>
            </a:ext>
          </a:extLst>
        </p:cNvPr>
        <p:cNvGrpSpPr/>
        <p:nvPr/>
      </p:nvGrpSpPr>
      <p:grpSpPr>
        <a:xfrm>
          <a:off x="0" y="0"/>
          <a:ext cx="0" cy="0"/>
          <a:chOff x="0" y="0"/>
          <a:chExt cx="0" cy="0"/>
        </a:xfrm>
      </p:grpSpPr>
      <p:sp>
        <p:nvSpPr>
          <p:cNvPr id="107" name="Google Shape;107;p2">
            <a:extLst>
              <a:ext uri="{FF2B5EF4-FFF2-40B4-BE49-F238E27FC236}">
                <a16:creationId xmlns:a16="http://schemas.microsoft.com/office/drawing/2014/main" id="{AE90FA52-2F54-76BC-D356-BA0E8230C6B6}"/>
              </a:ext>
            </a:extLst>
          </p:cNvPr>
          <p:cNvSpPr/>
          <p:nvPr/>
        </p:nvSpPr>
        <p:spPr>
          <a:xfrm rot="5400000" flipH="1">
            <a:off x="-5507067" y="2160093"/>
            <a:ext cx="15941669" cy="4992084"/>
          </a:xfrm>
          <a:custGeom>
            <a:avLst/>
            <a:gdLst/>
            <a:ahLst/>
            <a:cxnLst/>
            <a:rect l="l" t="t" r="r" b="b"/>
            <a:pathLst>
              <a:path w="14314219" h="4992084" extrusionOk="0">
                <a:moveTo>
                  <a:pt x="0" y="4992084"/>
                </a:moveTo>
                <a:lnTo>
                  <a:pt x="14314219" y="4992084"/>
                </a:lnTo>
                <a:lnTo>
                  <a:pt x="14314219" y="0"/>
                </a:lnTo>
                <a:lnTo>
                  <a:pt x="0" y="0"/>
                </a:lnTo>
                <a:lnTo>
                  <a:pt x="0" y="4992084"/>
                </a:lnTo>
                <a:close/>
              </a:path>
            </a:pathLst>
          </a:custGeom>
          <a:blipFill rotWithShape="1">
            <a:blip r:embed="rId3">
              <a:alphaModFix/>
            </a:blip>
            <a:stretch>
              <a:fillRect/>
            </a:stretch>
          </a:blipFill>
          <a:ln>
            <a:noFill/>
          </a:ln>
        </p:spPr>
      </p:sp>
      <p:sp>
        <p:nvSpPr>
          <p:cNvPr id="108" name="Google Shape;108;p2">
            <a:extLst>
              <a:ext uri="{FF2B5EF4-FFF2-40B4-BE49-F238E27FC236}">
                <a16:creationId xmlns:a16="http://schemas.microsoft.com/office/drawing/2014/main" id="{67F51DE5-60D4-B05C-553E-1C5F4730397A}"/>
              </a:ext>
            </a:extLst>
          </p:cNvPr>
          <p:cNvSpPr txBox="1"/>
          <p:nvPr/>
        </p:nvSpPr>
        <p:spPr>
          <a:xfrm>
            <a:off x="8756191" y="356056"/>
            <a:ext cx="9143999"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dirty="0">
                <a:solidFill>
                  <a:srgbClr val="0E8388"/>
                </a:solidFill>
                <a:latin typeface="Poppins" panose="00000500000000000000" pitchFamily="2" charset="0"/>
                <a:ea typeface="Poppins"/>
                <a:cs typeface="Poppins" panose="00000500000000000000" pitchFamily="2" charset="0"/>
                <a:sym typeface="Poppins"/>
              </a:rPr>
              <a:t>OBJECTIVES</a:t>
            </a:r>
            <a:endParaRPr dirty="0">
              <a:latin typeface="Poppins" panose="00000500000000000000" pitchFamily="2" charset="0"/>
              <a:cs typeface="Poppins" panose="00000500000000000000" pitchFamily="2" charset="0"/>
            </a:endParaRPr>
          </a:p>
        </p:txBody>
      </p:sp>
      <p:grpSp>
        <p:nvGrpSpPr>
          <p:cNvPr id="109" name="Google Shape;109;p2">
            <a:extLst>
              <a:ext uri="{FF2B5EF4-FFF2-40B4-BE49-F238E27FC236}">
                <a16:creationId xmlns:a16="http://schemas.microsoft.com/office/drawing/2014/main" id="{9B095992-88D2-B4A6-6AEC-C3C3556BFE00}"/>
              </a:ext>
            </a:extLst>
          </p:cNvPr>
          <p:cNvGrpSpPr/>
          <p:nvPr/>
        </p:nvGrpSpPr>
        <p:grpSpPr>
          <a:xfrm>
            <a:off x="4111536" y="1770260"/>
            <a:ext cx="12954000" cy="6179421"/>
            <a:chOff x="4314610" y="7081047"/>
            <a:chExt cx="12954000" cy="2745745"/>
          </a:xfrm>
        </p:grpSpPr>
        <p:sp>
          <p:nvSpPr>
            <p:cNvPr id="114" name="Google Shape;114;p2">
              <a:extLst>
                <a:ext uri="{FF2B5EF4-FFF2-40B4-BE49-F238E27FC236}">
                  <a16:creationId xmlns:a16="http://schemas.microsoft.com/office/drawing/2014/main" id="{098E06C1-A6E4-A600-0B73-47B8D436DF3F}"/>
                </a:ext>
              </a:extLst>
            </p:cNvPr>
            <p:cNvSpPr/>
            <p:nvPr/>
          </p:nvSpPr>
          <p:spPr>
            <a:xfrm>
              <a:off x="4314610" y="7673836"/>
              <a:ext cx="12954000" cy="2152956"/>
            </a:xfrm>
            <a:custGeom>
              <a:avLst/>
              <a:gdLst/>
              <a:ahLst/>
              <a:cxnLst/>
              <a:rect l="l" t="t" r="r" b="b"/>
              <a:pathLst>
                <a:path w="12954000" h="1503434" extrusionOk="0">
                  <a:moveTo>
                    <a:pt x="0" y="0"/>
                  </a:moveTo>
                  <a:lnTo>
                    <a:pt x="12954000" y="0"/>
                  </a:lnTo>
                  <a:lnTo>
                    <a:pt x="12954000" y="1503434"/>
                  </a:lnTo>
                  <a:lnTo>
                    <a:pt x="0" y="1503434"/>
                  </a:lnTo>
                  <a:lnTo>
                    <a:pt x="0" y="0"/>
                  </a:lnTo>
                  <a:close/>
                </a:path>
              </a:pathLst>
            </a:custGeom>
            <a:solidFill>
              <a:schemeClr val="lt1">
                <a:alpha val="89803"/>
              </a:schemeClr>
            </a:solidFill>
            <a:ln w="25400" cap="flat" cmpd="sng">
              <a:solidFill>
                <a:srgbClr val="9CC8D8"/>
              </a:solidFill>
              <a:prstDash val="solid"/>
              <a:round/>
              <a:headEnd type="none" w="sm" len="sm"/>
              <a:tailEnd type="none" w="sm" len="sm"/>
            </a:ln>
          </p:spPr>
          <p:txBody>
            <a:bodyPr spcFirstLastPara="1" wrap="square" lIns="1005350" tIns="395725" rIns="1005350" bIns="142225" anchor="t" anchorCtr="0">
              <a:noAutofit/>
            </a:bodyPr>
            <a:lstStyle/>
            <a:p>
              <a:pPr marL="228600" lvl="1" indent="-228600">
                <a:lnSpc>
                  <a:spcPct val="150000"/>
                </a:lnSpc>
                <a:buClr>
                  <a:schemeClr val="dk1"/>
                </a:buClr>
                <a:buSzPts val="2000"/>
                <a:buFont typeface="Times New Roman"/>
                <a:buChar char="•"/>
              </a:pPr>
              <a:r>
                <a:rPr lang="en-US" sz="2400" dirty="0">
                  <a:solidFill>
                    <a:schemeClr val="dk1"/>
                  </a:solidFill>
                  <a:latin typeface="Poppins" panose="00000500000000000000" pitchFamily="2" charset="0"/>
                  <a:ea typeface="Times New Roman"/>
                  <a:cs typeface="Poppins" panose="00000500000000000000" pitchFamily="2" charset="0"/>
                  <a:sym typeface="Times New Roman"/>
                </a:rPr>
                <a:t>To implement electronic circuits in shooting systems (weapons) and receiver circuits (helmets and vests) and two-way communication systems between servers and multiple player units</a:t>
              </a:r>
              <a:r>
                <a:rPr lang="en-US" sz="2400" b="0" i="0" u="none" strike="noStrike" cap="none" dirty="0">
                  <a:solidFill>
                    <a:schemeClr val="dk1"/>
                  </a:solidFill>
                  <a:latin typeface="Poppins" panose="00000500000000000000" pitchFamily="2" charset="0"/>
                  <a:ea typeface="Times New Roman"/>
                  <a:cs typeface="Poppins" panose="00000500000000000000" pitchFamily="2" charset="0"/>
                  <a:sym typeface="Times New Roman"/>
                </a:rPr>
                <a:t>.</a:t>
              </a:r>
              <a:endParaRPr sz="2400" dirty="0">
                <a:latin typeface="Poppins" panose="00000500000000000000" pitchFamily="2" charset="0"/>
                <a:cs typeface="Poppins" panose="00000500000000000000" pitchFamily="2" charset="0"/>
              </a:endParaRPr>
            </a:p>
            <a:p>
              <a:pPr marL="228600" lvl="1" indent="-228600">
                <a:lnSpc>
                  <a:spcPct val="150000"/>
                </a:lnSpc>
                <a:spcBef>
                  <a:spcPts val="300"/>
                </a:spcBef>
                <a:buClr>
                  <a:schemeClr val="dk1"/>
                </a:buClr>
                <a:buSzPts val="2000"/>
                <a:buFont typeface="Times New Roman"/>
                <a:buChar char="•"/>
              </a:pPr>
              <a:r>
                <a:rPr lang="en-US" sz="2400" dirty="0">
                  <a:solidFill>
                    <a:schemeClr val="dk1"/>
                  </a:solidFill>
                  <a:latin typeface="Poppins" panose="00000500000000000000" pitchFamily="2" charset="0"/>
                  <a:ea typeface="Times New Roman"/>
                  <a:cs typeface="Poppins" panose="00000500000000000000" pitchFamily="2" charset="0"/>
                  <a:sym typeface="Times New Roman"/>
                </a:rPr>
                <a:t>To integrate ESP-NOW and LoRa protocols into microcontrollers to support real-time communication in Laser Tag games.</a:t>
              </a:r>
              <a:r>
                <a:rPr lang="en-US" sz="2400" b="0" i="0" u="none" strike="noStrike" cap="none" dirty="0">
                  <a:solidFill>
                    <a:schemeClr val="dk1"/>
                  </a:solidFill>
                  <a:latin typeface="Poppins" panose="00000500000000000000" pitchFamily="2" charset="0"/>
                  <a:ea typeface="Times New Roman"/>
                  <a:cs typeface="Poppins" panose="00000500000000000000" pitchFamily="2" charset="0"/>
                  <a:sym typeface="Times New Roman"/>
                </a:rPr>
                <a:t>.</a:t>
              </a:r>
            </a:p>
            <a:p>
              <a:pPr marL="228600" lvl="1" indent="-228600">
                <a:lnSpc>
                  <a:spcPct val="150000"/>
                </a:lnSpc>
                <a:spcBef>
                  <a:spcPts val="300"/>
                </a:spcBef>
                <a:buClr>
                  <a:schemeClr val="dk1"/>
                </a:buClr>
                <a:buSzPts val="2000"/>
                <a:buFont typeface="Times New Roman"/>
                <a:buChar char="•"/>
              </a:pPr>
              <a:r>
                <a:rPr lang="en-US" sz="2400" dirty="0">
                  <a:latin typeface="Poppins" panose="00000500000000000000" pitchFamily="2" charset="0"/>
                  <a:cs typeface="Poppins" panose="00000500000000000000" pitchFamily="2" charset="0"/>
                </a:rPr>
                <a:t>To develop two-way communication systems to support real-time score recording</a:t>
              </a:r>
              <a:r>
                <a:rPr lang="en-US" sz="2000" dirty="0">
                  <a:latin typeface="Poppins" panose="00000500000000000000" pitchFamily="2" charset="0"/>
                  <a:cs typeface="Poppins" panose="00000500000000000000" pitchFamily="2" charset="0"/>
                </a:rPr>
                <a:t>.</a:t>
              </a:r>
              <a:endParaRPr sz="2000" dirty="0">
                <a:latin typeface="Poppins" panose="00000500000000000000" pitchFamily="2" charset="0"/>
                <a:cs typeface="Poppins" panose="00000500000000000000" pitchFamily="2" charset="0"/>
              </a:endParaRPr>
            </a:p>
          </p:txBody>
        </p:sp>
        <p:sp>
          <p:nvSpPr>
            <p:cNvPr id="115" name="Google Shape;115;p2">
              <a:extLst>
                <a:ext uri="{FF2B5EF4-FFF2-40B4-BE49-F238E27FC236}">
                  <a16:creationId xmlns:a16="http://schemas.microsoft.com/office/drawing/2014/main" id="{7DABCB53-BF6A-E915-BEEB-F9E6FAFD1EA1}"/>
                </a:ext>
              </a:extLst>
            </p:cNvPr>
            <p:cNvSpPr/>
            <p:nvPr/>
          </p:nvSpPr>
          <p:spPr>
            <a:xfrm>
              <a:off x="4959808" y="7081047"/>
              <a:ext cx="9067800" cy="592789"/>
            </a:xfrm>
            <a:custGeom>
              <a:avLst/>
              <a:gdLst/>
              <a:ahLst/>
              <a:cxnLst/>
              <a:rect l="l" t="t" r="r" b="b"/>
              <a:pathLst>
                <a:path w="9067800" h="944751" extrusionOk="0">
                  <a:moveTo>
                    <a:pt x="0" y="157462"/>
                  </a:moveTo>
                  <a:cubicBezTo>
                    <a:pt x="0" y="70498"/>
                    <a:pt x="70498" y="0"/>
                    <a:pt x="157462" y="0"/>
                  </a:cubicBezTo>
                  <a:lnTo>
                    <a:pt x="8910338" y="0"/>
                  </a:lnTo>
                  <a:cubicBezTo>
                    <a:pt x="8997302" y="0"/>
                    <a:pt x="9067800" y="70498"/>
                    <a:pt x="9067800" y="157462"/>
                  </a:cubicBezTo>
                  <a:lnTo>
                    <a:pt x="9067800" y="787289"/>
                  </a:lnTo>
                  <a:cubicBezTo>
                    <a:pt x="9067800" y="874253"/>
                    <a:pt x="8997302" y="944751"/>
                    <a:pt x="8910338" y="944751"/>
                  </a:cubicBezTo>
                  <a:lnTo>
                    <a:pt x="157462" y="944751"/>
                  </a:lnTo>
                  <a:cubicBezTo>
                    <a:pt x="70498" y="944751"/>
                    <a:pt x="0" y="874253"/>
                    <a:pt x="0" y="787289"/>
                  </a:cubicBezTo>
                  <a:lnTo>
                    <a:pt x="0" y="157462"/>
                  </a:lnTo>
                  <a:close/>
                </a:path>
              </a:pathLst>
            </a:custGeom>
            <a:solidFill>
              <a:srgbClr val="9CC8D8"/>
            </a:solidFill>
            <a:ln w="25400" cap="flat" cmpd="sng">
              <a:solidFill>
                <a:schemeClr val="lt1"/>
              </a:solidFill>
              <a:prstDash val="solid"/>
              <a:round/>
              <a:headEnd type="none" w="sm" len="sm"/>
              <a:tailEnd type="none" w="sm" len="sm"/>
            </a:ln>
          </p:spPr>
          <p:txBody>
            <a:bodyPr spcFirstLastPara="1" wrap="square" lIns="388850" tIns="46100" rIns="388850" bIns="46100" anchor="ctr" anchorCtr="0">
              <a:noAutofit/>
            </a:bodyPr>
            <a:lstStyle/>
            <a:p>
              <a:pPr marL="0" marR="0" lvl="0" indent="0" algn="l" rtl="0">
                <a:lnSpc>
                  <a:spcPct val="90000"/>
                </a:lnSpc>
                <a:spcBef>
                  <a:spcPts val="0"/>
                </a:spcBef>
                <a:spcAft>
                  <a:spcPts val="0"/>
                </a:spcAft>
                <a:buClr>
                  <a:schemeClr val="lt1"/>
                </a:buClr>
                <a:buSzPts val="2500"/>
                <a:buFont typeface="Times New Roman"/>
                <a:buNone/>
              </a:pPr>
              <a:r>
                <a:rPr lang="en-US" sz="2500" b="1" dirty="0">
                  <a:solidFill>
                    <a:schemeClr val="lt1"/>
                  </a:solidFill>
                  <a:latin typeface="Poppins" panose="00000500000000000000" pitchFamily="2" charset="0"/>
                  <a:ea typeface="Times New Roman"/>
                  <a:cs typeface="Poppins" panose="00000500000000000000" pitchFamily="2" charset="0"/>
                  <a:sym typeface="Times New Roman"/>
                </a:rPr>
                <a:t>OBJECTIVES</a:t>
              </a:r>
              <a:endParaRPr dirty="0">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408852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grpSp>
        <p:nvGrpSpPr>
          <p:cNvPr id="121" name="Google Shape;121;p3"/>
          <p:cNvGrpSpPr/>
          <p:nvPr/>
        </p:nvGrpSpPr>
        <p:grpSpPr>
          <a:xfrm>
            <a:off x="0" y="1577704"/>
            <a:ext cx="19891271" cy="8709296"/>
            <a:chOff x="0" y="0"/>
            <a:chExt cx="5661114" cy="1678079"/>
          </a:xfrm>
        </p:grpSpPr>
        <p:sp>
          <p:nvSpPr>
            <p:cNvPr id="122" name="Google Shape;122;p3"/>
            <p:cNvSpPr/>
            <p:nvPr/>
          </p:nvSpPr>
          <p:spPr>
            <a:xfrm>
              <a:off x="0" y="3761"/>
              <a:ext cx="5238853" cy="1674318"/>
            </a:xfrm>
            <a:custGeom>
              <a:avLst/>
              <a:gdLst/>
              <a:ahLst/>
              <a:cxnLst/>
              <a:rect l="l" t="t" r="r" b="b"/>
              <a:pathLst>
                <a:path w="5661114" h="1674318" extrusionOk="0">
                  <a:moveTo>
                    <a:pt x="0" y="0"/>
                  </a:moveTo>
                  <a:lnTo>
                    <a:pt x="5661114" y="0"/>
                  </a:lnTo>
                  <a:lnTo>
                    <a:pt x="5661114" y="1674318"/>
                  </a:lnTo>
                  <a:lnTo>
                    <a:pt x="0" y="1674318"/>
                  </a:lnTo>
                  <a:close/>
                </a:path>
              </a:pathLst>
            </a:custGeom>
            <a:solidFill>
              <a:srgbClr val="0E8388"/>
            </a:solidFill>
            <a:ln>
              <a:noFill/>
            </a:ln>
          </p:spPr>
        </p:sp>
        <p:sp>
          <p:nvSpPr>
            <p:cNvPr id="123" name="Google Shape;123;p3"/>
            <p:cNvSpPr txBox="1"/>
            <p:nvPr/>
          </p:nvSpPr>
          <p:spPr>
            <a:xfrm>
              <a:off x="0" y="0"/>
              <a:ext cx="5661114" cy="1674318"/>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4" name="Google Shape;124;p3"/>
          <p:cNvSpPr/>
          <p:nvPr/>
        </p:nvSpPr>
        <p:spPr>
          <a:xfrm rot="5400000" flipH="1">
            <a:off x="-4805309" y="2037856"/>
            <a:ext cx="12676724" cy="4421008"/>
          </a:xfrm>
          <a:custGeom>
            <a:avLst/>
            <a:gdLst/>
            <a:ahLst/>
            <a:cxnLst/>
            <a:rect l="l" t="t" r="r" b="b"/>
            <a:pathLst>
              <a:path w="12676724" h="4421008" extrusionOk="0">
                <a:moveTo>
                  <a:pt x="0" y="4421007"/>
                </a:moveTo>
                <a:lnTo>
                  <a:pt x="12676725" y="4421007"/>
                </a:lnTo>
                <a:lnTo>
                  <a:pt x="12676725" y="0"/>
                </a:lnTo>
                <a:lnTo>
                  <a:pt x="0" y="0"/>
                </a:lnTo>
                <a:lnTo>
                  <a:pt x="0" y="4421007"/>
                </a:lnTo>
                <a:close/>
              </a:path>
            </a:pathLst>
          </a:custGeom>
          <a:blipFill rotWithShape="1">
            <a:blip r:embed="rId3">
              <a:alphaModFix/>
            </a:blip>
            <a:stretch>
              <a:fillRect/>
            </a:stretch>
          </a:blipFill>
          <a:ln>
            <a:noFill/>
          </a:ln>
        </p:spPr>
      </p:sp>
      <p:grpSp>
        <p:nvGrpSpPr>
          <p:cNvPr id="125" name="Google Shape;125;p3"/>
          <p:cNvGrpSpPr/>
          <p:nvPr/>
        </p:nvGrpSpPr>
        <p:grpSpPr>
          <a:xfrm>
            <a:off x="6215283" y="2206164"/>
            <a:ext cx="604566" cy="604566"/>
            <a:chOff x="0" y="0"/>
            <a:chExt cx="812800" cy="812800"/>
          </a:xfrm>
        </p:grpSpPr>
        <p:sp>
          <p:nvSpPr>
            <p:cNvPr id="126" name="Google Shape;126;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3"/>
          <p:cNvSpPr txBox="1"/>
          <p:nvPr/>
        </p:nvSpPr>
        <p:spPr>
          <a:xfrm>
            <a:off x="4056505" y="295239"/>
            <a:ext cx="10294573"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a:solidFill>
                  <a:srgbClr val="0E8388"/>
                </a:solidFill>
                <a:latin typeface="Poppins"/>
                <a:ea typeface="Poppins"/>
                <a:cs typeface="Poppins"/>
                <a:sym typeface="Poppins"/>
              </a:rPr>
              <a:t>DIAGRAM SYSTEM</a:t>
            </a:r>
            <a:endParaRPr/>
          </a:p>
        </p:txBody>
      </p:sp>
      <p:grpSp>
        <p:nvGrpSpPr>
          <p:cNvPr id="129" name="Google Shape;129;p3"/>
          <p:cNvGrpSpPr/>
          <p:nvPr/>
        </p:nvGrpSpPr>
        <p:grpSpPr>
          <a:xfrm>
            <a:off x="5506313" y="1995193"/>
            <a:ext cx="6782040" cy="1302465"/>
            <a:chOff x="389690" y="2080237"/>
            <a:chExt cx="2510596" cy="717481"/>
          </a:xfrm>
        </p:grpSpPr>
        <p:sp>
          <p:nvSpPr>
            <p:cNvPr id="130" name="Google Shape;130;p3"/>
            <p:cNvSpPr txBox="1"/>
            <p:nvPr/>
          </p:nvSpPr>
          <p:spPr>
            <a:xfrm>
              <a:off x="523964" y="2474279"/>
              <a:ext cx="2376322" cy="32343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sp>
          <p:nvSpPr>
            <p:cNvPr id="131" name="Google Shape;131;p3"/>
            <p:cNvSpPr txBox="1"/>
            <p:nvPr/>
          </p:nvSpPr>
          <p:spPr>
            <a:xfrm>
              <a:off x="389690" y="2080237"/>
              <a:ext cx="2376322" cy="288223"/>
            </a:xfrm>
            <a:prstGeom prst="rect">
              <a:avLst/>
            </a:prstGeom>
            <a:solidFill>
              <a:srgbClr val="FFC0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lt1"/>
                  </a:solidFill>
                  <a:latin typeface="Times New Roman"/>
                  <a:ea typeface="Times New Roman"/>
                  <a:cs typeface="Times New Roman"/>
                  <a:sym typeface="Times New Roman"/>
                </a:rPr>
                <a:t>DIAGRAM BLOCK</a:t>
              </a:r>
              <a:endParaRPr sz="2800" b="1" dirty="0">
                <a:solidFill>
                  <a:schemeClr val="lt1"/>
                </a:solidFill>
                <a:latin typeface="Calibri"/>
                <a:ea typeface="Calibri"/>
                <a:cs typeface="Calibri"/>
                <a:sym typeface="Calibri"/>
              </a:endParaRPr>
            </a:p>
          </p:txBody>
        </p:sp>
      </p:grpSp>
      <p:pic>
        <p:nvPicPr>
          <p:cNvPr id="2" name="Picture 1">
            <a:extLst>
              <a:ext uri="{FF2B5EF4-FFF2-40B4-BE49-F238E27FC236}">
                <a16:creationId xmlns:a16="http://schemas.microsoft.com/office/drawing/2014/main" id="{35F90150-A7D2-BC21-4539-6C25D19F6A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461" y="2830250"/>
            <a:ext cx="17568356" cy="70831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4B3F1CE7-8E78-72E2-4D48-AE1B70DFD29D}"/>
            </a:ext>
          </a:extLst>
        </p:cNvPr>
        <p:cNvGrpSpPr/>
        <p:nvPr/>
      </p:nvGrpSpPr>
      <p:grpSpPr>
        <a:xfrm>
          <a:off x="0" y="0"/>
          <a:ext cx="0" cy="0"/>
          <a:chOff x="0" y="0"/>
          <a:chExt cx="0" cy="0"/>
        </a:xfrm>
      </p:grpSpPr>
      <p:grpSp>
        <p:nvGrpSpPr>
          <p:cNvPr id="121" name="Google Shape;121;p3">
            <a:extLst>
              <a:ext uri="{FF2B5EF4-FFF2-40B4-BE49-F238E27FC236}">
                <a16:creationId xmlns:a16="http://schemas.microsoft.com/office/drawing/2014/main" id="{113D19B2-91A2-0B0C-CB62-ABFEDCCBDA71}"/>
              </a:ext>
            </a:extLst>
          </p:cNvPr>
          <p:cNvGrpSpPr/>
          <p:nvPr/>
        </p:nvGrpSpPr>
        <p:grpSpPr>
          <a:xfrm>
            <a:off x="0" y="1577704"/>
            <a:ext cx="19891271" cy="8709296"/>
            <a:chOff x="0" y="0"/>
            <a:chExt cx="5661114" cy="1678079"/>
          </a:xfrm>
        </p:grpSpPr>
        <p:sp>
          <p:nvSpPr>
            <p:cNvPr id="122" name="Google Shape;122;p3">
              <a:extLst>
                <a:ext uri="{FF2B5EF4-FFF2-40B4-BE49-F238E27FC236}">
                  <a16:creationId xmlns:a16="http://schemas.microsoft.com/office/drawing/2014/main" id="{F6C787B4-0FA2-A900-CCF7-E1C89B77B4C8}"/>
                </a:ext>
              </a:extLst>
            </p:cNvPr>
            <p:cNvSpPr/>
            <p:nvPr/>
          </p:nvSpPr>
          <p:spPr>
            <a:xfrm>
              <a:off x="0" y="3761"/>
              <a:ext cx="5238853" cy="1674318"/>
            </a:xfrm>
            <a:custGeom>
              <a:avLst/>
              <a:gdLst/>
              <a:ahLst/>
              <a:cxnLst/>
              <a:rect l="l" t="t" r="r" b="b"/>
              <a:pathLst>
                <a:path w="5661114" h="1674318" extrusionOk="0">
                  <a:moveTo>
                    <a:pt x="0" y="0"/>
                  </a:moveTo>
                  <a:lnTo>
                    <a:pt x="5661114" y="0"/>
                  </a:lnTo>
                  <a:lnTo>
                    <a:pt x="5661114" y="1674318"/>
                  </a:lnTo>
                  <a:lnTo>
                    <a:pt x="0" y="1674318"/>
                  </a:lnTo>
                  <a:close/>
                </a:path>
              </a:pathLst>
            </a:custGeom>
            <a:solidFill>
              <a:srgbClr val="0E8388"/>
            </a:solidFill>
            <a:ln>
              <a:noFill/>
            </a:ln>
          </p:spPr>
        </p:sp>
        <p:sp>
          <p:nvSpPr>
            <p:cNvPr id="123" name="Google Shape;123;p3">
              <a:extLst>
                <a:ext uri="{FF2B5EF4-FFF2-40B4-BE49-F238E27FC236}">
                  <a16:creationId xmlns:a16="http://schemas.microsoft.com/office/drawing/2014/main" id="{50243D43-F45C-ACB3-A5E1-FDB30AB3874D}"/>
                </a:ext>
              </a:extLst>
            </p:cNvPr>
            <p:cNvSpPr txBox="1"/>
            <p:nvPr/>
          </p:nvSpPr>
          <p:spPr>
            <a:xfrm>
              <a:off x="0" y="0"/>
              <a:ext cx="5661114" cy="1674318"/>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4" name="Google Shape;124;p3">
            <a:extLst>
              <a:ext uri="{FF2B5EF4-FFF2-40B4-BE49-F238E27FC236}">
                <a16:creationId xmlns:a16="http://schemas.microsoft.com/office/drawing/2014/main" id="{B0B5EB8B-7299-AD3B-962D-02E89DEC892F}"/>
              </a:ext>
            </a:extLst>
          </p:cNvPr>
          <p:cNvSpPr/>
          <p:nvPr/>
        </p:nvSpPr>
        <p:spPr>
          <a:xfrm rot="5400000" flipH="1">
            <a:off x="-4805309" y="2037856"/>
            <a:ext cx="12676724" cy="4421008"/>
          </a:xfrm>
          <a:custGeom>
            <a:avLst/>
            <a:gdLst/>
            <a:ahLst/>
            <a:cxnLst/>
            <a:rect l="l" t="t" r="r" b="b"/>
            <a:pathLst>
              <a:path w="12676724" h="4421008" extrusionOk="0">
                <a:moveTo>
                  <a:pt x="0" y="4421007"/>
                </a:moveTo>
                <a:lnTo>
                  <a:pt x="12676725" y="4421007"/>
                </a:lnTo>
                <a:lnTo>
                  <a:pt x="12676725" y="0"/>
                </a:lnTo>
                <a:lnTo>
                  <a:pt x="0" y="0"/>
                </a:lnTo>
                <a:lnTo>
                  <a:pt x="0" y="4421007"/>
                </a:lnTo>
                <a:close/>
              </a:path>
            </a:pathLst>
          </a:custGeom>
          <a:blipFill rotWithShape="1">
            <a:blip r:embed="rId3">
              <a:alphaModFix/>
            </a:blip>
            <a:stretch>
              <a:fillRect/>
            </a:stretch>
          </a:blipFill>
          <a:ln>
            <a:noFill/>
          </a:ln>
        </p:spPr>
      </p:sp>
      <p:grpSp>
        <p:nvGrpSpPr>
          <p:cNvPr id="125" name="Google Shape;125;p3">
            <a:extLst>
              <a:ext uri="{FF2B5EF4-FFF2-40B4-BE49-F238E27FC236}">
                <a16:creationId xmlns:a16="http://schemas.microsoft.com/office/drawing/2014/main" id="{F9FE5D71-0645-F889-4F59-5692C39B94D9}"/>
              </a:ext>
            </a:extLst>
          </p:cNvPr>
          <p:cNvGrpSpPr/>
          <p:nvPr/>
        </p:nvGrpSpPr>
        <p:grpSpPr>
          <a:xfrm>
            <a:off x="6215283" y="2206164"/>
            <a:ext cx="604566" cy="604566"/>
            <a:chOff x="0" y="0"/>
            <a:chExt cx="812800" cy="812800"/>
          </a:xfrm>
        </p:grpSpPr>
        <p:sp>
          <p:nvSpPr>
            <p:cNvPr id="126" name="Google Shape;126;p3">
              <a:extLst>
                <a:ext uri="{FF2B5EF4-FFF2-40B4-BE49-F238E27FC236}">
                  <a16:creationId xmlns:a16="http://schemas.microsoft.com/office/drawing/2014/main" id="{02C149A6-A0DC-FDDA-5448-932AFC9A2A3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a:extLst>
                <a:ext uri="{FF2B5EF4-FFF2-40B4-BE49-F238E27FC236}">
                  <a16:creationId xmlns:a16="http://schemas.microsoft.com/office/drawing/2014/main" id="{7BA848C6-F07D-9569-1651-4A9A95E78B1E}"/>
                </a:ext>
              </a:extLst>
            </p:cNvPr>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3">
            <a:extLst>
              <a:ext uri="{FF2B5EF4-FFF2-40B4-BE49-F238E27FC236}">
                <a16:creationId xmlns:a16="http://schemas.microsoft.com/office/drawing/2014/main" id="{E7428F36-EB19-1ED6-DC7C-D598B5649629}"/>
              </a:ext>
            </a:extLst>
          </p:cNvPr>
          <p:cNvSpPr txBox="1"/>
          <p:nvPr/>
        </p:nvSpPr>
        <p:spPr>
          <a:xfrm>
            <a:off x="4056505" y="295239"/>
            <a:ext cx="10294573"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dirty="0">
                <a:solidFill>
                  <a:srgbClr val="0E8388"/>
                </a:solidFill>
                <a:latin typeface="Poppins"/>
                <a:ea typeface="Poppins"/>
                <a:cs typeface="Poppins"/>
                <a:sym typeface="Poppins"/>
              </a:rPr>
              <a:t>FLOWCHART SYSTEM</a:t>
            </a:r>
            <a:endParaRPr dirty="0"/>
          </a:p>
        </p:txBody>
      </p:sp>
      <p:sp>
        <p:nvSpPr>
          <p:cNvPr id="130" name="Google Shape;130;p3">
            <a:extLst>
              <a:ext uri="{FF2B5EF4-FFF2-40B4-BE49-F238E27FC236}">
                <a16:creationId xmlns:a16="http://schemas.microsoft.com/office/drawing/2014/main" id="{2481632E-036D-D7B8-0A21-561BED887C28}"/>
              </a:ext>
            </a:extLst>
          </p:cNvPr>
          <p:cNvSpPr txBox="1"/>
          <p:nvPr/>
        </p:nvSpPr>
        <p:spPr>
          <a:xfrm>
            <a:off x="2462158" y="2621758"/>
            <a:ext cx="6419317" cy="58714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sp>
        <p:nvSpPr>
          <p:cNvPr id="133" name="Google Shape;133;p3">
            <a:extLst>
              <a:ext uri="{FF2B5EF4-FFF2-40B4-BE49-F238E27FC236}">
                <a16:creationId xmlns:a16="http://schemas.microsoft.com/office/drawing/2014/main" id="{BCB4D278-19B1-3894-8B97-E08D64C45E80}"/>
              </a:ext>
            </a:extLst>
          </p:cNvPr>
          <p:cNvSpPr txBox="1"/>
          <p:nvPr/>
        </p:nvSpPr>
        <p:spPr>
          <a:xfrm>
            <a:off x="10222736" y="2782379"/>
            <a:ext cx="8065264" cy="58714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6E4DA7F1-A249-FD77-4253-42A592787C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5947" y="2427777"/>
            <a:ext cx="7100379" cy="7802633"/>
          </a:xfrm>
          <a:prstGeom prst="rect">
            <a:avLst/>
          </a:prstGeom>
        </p:spPr>
      </p:pic>
    </p:spTree>
    <p:extLst>
      <p:ext uri="{BB962C8B-B14F-4D97-AF65-F5344CB8AC3E}">
        <p14:creationId xmlns:p14="http://schemas.microsoft.com/office/powerpoint/2010/main" val="2645163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3430F73E-D4AA-6567-0A02-63DB2A4C7228}"/>
            </a:ext>
          </a:extLst>
        </p:cNvPr>
        <p:cNvGrpSpPr/>
        <p:nvPr/>
      </p:nvGrpSpPr>
      <p:grpSpPr>
        <a:xfrm>
          <a:off x="0" y="0"/>
          <a:ext cx="0" cy="0"/>
          <a:chOff x="0" y="0"/>
          <a:chExt cx="0" cy="0"/>
        </a:xfrm>
      </p:grpSpPr>
      <p:grpSp>
        <p:nvGrpSpPr>
          <p:cNvPr id="121" name="Google Shape;121;p3">
            <a:extLst>
              <a:ext uri="{FF2B5EF4-FFF2-40B4-BE49-F238E27FC236}">
                <a16:creationId xmlns:a16="http://schemas.microsoft.com/office/drawing/2014/main" id="{0A363FE7-0419-3D68-34B8-F4015381D07F}"/>
              </a:ext>
            </a:extLst>
          </p:cNvPr>
          <p:cNvGrpSpPr/>
          <p:nvPr/>
        </p:nvGrpSpPr>
        <p:grpSpPr>
          <a:xfrm>
            <a:off x="0" y="1577704"/>
            <a:ext cx="19891271" cy="8709296"/>
            <a:chOff x="0" y="0"/>
            <a:chExt cx="5661114" cy="1678079"/>
          </a:xfrm>
        </p:grpSpPr>
        <p:sp>
          <p:nvSpPr>
            <p:cNvPr id="122" name="Google Shape;122;p3">
              <a:extLst>
                <a:ext uri="{FF2B5EF4-FFF2-40B4-BE49-F238E27FC236}">
                  <a16:creationId xmlns:a16="http://schemas.microsoft.com/office/drawing/2014/main" id="{5840715D-4785-93A9-A64B-EA3D38F10B6D}"/>
                </a:ext>
              </a:extLst>
            </p:cNvPr>
            <p:cNvSpPr/>
            <p:nvPr/>
          </p:nvSpPr>
          <p:spPr>
            <a:xfrm>
              <a:off x="0" y="3761"/>
              <a:ext cx="5238853" cy="1674318"/>
            </a:xfrm>
            <a:custGeom>
              <a:avLst/>
              <a:gdLst/>
              <a:ahLst/>
              <a:cxnLst/>
              <a:rect l="l" t="t" r="r" b="b"/>
              <a:pathLst>
                <a:path w="5661114" h="1674318" extrusionOk="0">
                  <a:moveTo>
                    <a:pt x="0" y="0"/>
                  </a:moveTo>
                  <a:lnTo>
                    <a:pt x="5661114" y="0"/>
                  </a:lnTo>
                  <a:lnTo>
                    <a:pt x="5661114" y="1674318"/>
                  </a:lnTo>
                  <a:lnTo>
                    <a:pt x="0" y="1674318"/>
                  </a:lnTo>
                  <a:close/>
                </a:path>
              </a:pathLst>
            </a:custGeom>
            <a:solidFill>
              <a:srgbClr val="0E8388"/>
            </a:solidFill>
            <a:ln>
              <a:noFill/>
            </a:ln>
          </p:spPr>
        </p:sp>
        <p:sp>
          <p:nvSpPr>
            <p:cNvPr id="123" name="Google Shape;123;p3">
              <a:extLst>
                <a:ext uri="{FF2B5EF4-FFF2-40B4-BE49-F238E27FC236}">
                  <a16:creationId xmlns:a16="http://schemas.microsoft.com/office/drawing/2014/main" id="{97F9CEEA-2EDA-88A7-121D-04C1A149C96F}"/>
                </a:ext>
              </a:extLst>
            </p:cNvPr>
            <p:cNvSpPr txBox="1"/>
            <p:nvPr/>
          </p:nvSpPr>
          <p:spPr>
            <a:xfrm>
              <a:off x="0" y="0"/>
              <a:ext cx="5661114" cy="1674318"/>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dirty="0">
                <a:solidFill>
                  <a:schemeClr val="dk1"/>
                </a:solidFill>
                <a:latin typeface="Calibri"/>
                <a:ea typeface="Calibri"/>
                <a:cs typeface="Calibri"/>
                <a:sym typeface="Calibri"/>
              </a:endParaRPr>
            </a:p>
          </p:txBody>
        </p:sp>
      </p:grpSp>
      <p:sp>
        <p:nvSpPr>
          <p:cNvPr id="124" name="Google Shape;124;p3">
            <a:extLst>
              <a:ext uri="{FF2B5EF4-FFF2-40B4-BE49-F238E27FC236}">
                <a16:creationId xmlns:a16="http://schemas.microsoft.com/office/drawing/2014/main" id="{00DA6562-AE9C-7A54-93D2-768582D9E646}"/>
              </a:ext>
            </a:extLst>
          </p:cNvPr>
          <p:cNvSpPr/>
          <p:nvPr/>
        </p:nvSpPr>
        <p:spPr>
          <a:xfrm rot="5400000" flipH="1">
            <a:off x="-4805309" y="2037856"/>
            <a:ext cx="12676724" cy="4421008"/>
          </a:xfrm>
          <a:custGeom>
            <a:avLst/>
            <a:gdLst/>
            <a:ahLst/>
            <a:cxnLst/>
            <a:rect l="l" t="t" r="r" b="b"/>
            <a:pathLst>
              <a:path w="12676724" h="4421008" extrusionOk="0">
                <a:moveTo>
                  <a:pt x="0" y="4421007"/>
                </a:moveTo>
                <a:lnTo>
                  <a:pt x="12676725" y="4421007"/>
                </a:lnTo>
                <a:lnTo>
                  <a:pt x="12676725" y="0"/>
                </a:lnTo>
                <a:lnTo>
                  <a:pt x="0" y="0"/>
                </a:lnTo>
                <a:lnTo>
                  <a:pt x="0" y="4421007"/>
                </a:lnTo>
                <a:close/>
              </a:path>
            </a:pathLst>
          </a:custGeom>
          <a:blipFill rotWithShape="1">
            <a:blip r:embed="rId3">
              <a:alphaModFix/>
            </a:blip>
            <a:stretch>
              <a:fillRect/>
            </a:stretch>
          </a:blipFill>
          <a:ln>
            <a:noFill/>
          </a:ln>
        </p:spPr>
      </p:sp>
      <p:grpSp>
        <p:nvGrpSpPr>
          <p:cNvPr id="125" name="Google Shape;125;p3">
            <a:extLst>
              <a:ext uri="{FF2B5EF4-FFF2-40B4-BE49-F238E27FC236}">
                <a16:creationId xmlns:a16="http://schemas.microsoft.com/office/drawing/2014/main" id="{2BBAC3B9-929A-6892-0202-0788F5C26996}"/>
              </a:ext>
            </a:extLst>
          </p:cNvPr>
          <p:cNvGrpSpPr/>
          <p:nvPr/>
        </p:nvGrpSpPr>
        <p:grpSpPr>
          <a:xfrm>
            <a:off x="6215283" y="2206164"/>
            <a:ext cx="604566" cy="604566"/>
            <a:chOff x="0" y="0"/>
            <a:chExt cx="812800" cy="812800"/>
          </a:xfrm>
        </p:grpSpPr>
        <p:sp>
          <p:nvSpPr>
            <p:cNvPr id="126" name="Google Shape;126;p3">
              <a:extLst>
                <a:ext uri="{FF2B5EF4-FFF2-40B4-BE49-F238E27FC236}">
                  <a16:creationId xmlns:a16="http://schemas.microsoft.com/office/drawing/2014/main" id="{C6B0F11B-5FF6-59BC-0AE2-8C673FA2673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a:extLst>
                <a:ext uri="{FF2B5EF4-FFF2-40B4-BE49-F238E27FC236}">
                  <a16:creationId xmlns:a16="http://schemas.microsoft.com/office/drawing/2014/main" id="{7527AFCD-659D-FC2D-E5D1-498398CF8293}"/>
                </a:ext>
              </a:extLst>
            </p:cNvPr>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3">
            <a:extLst>
              <a:ext uri="{FF2B5EF4-FFF2-40B4-BE49-F238E27FC236}">
                <a16:creationId xmlns:a16="http://schemas.microsoft.com/office/drawing/2014/main" id="{FED586DF-933A-6DC1-5833-3C1926F95E89}"/>
              </a:ext>
            </a:extLst>
          </p:cNvPr>
          <p:cNvSpPr txBox="1"/>
          <p:nvPr/>
        </p:nvSpPr>
        <p:spPr>
          <a:xfrm>
            <a:off x="5896541" y="492436"/>
            <a:ext cx="6789311" cy="923330"/>
          </a:xfrm>
          <a:prstGeom prst="rect">
            <a:avLst/>
          </a:prstGeom>
          <a:noFill/>
          <a:ln>
            <a:noFill/>
          </a:ln>
        </p:spPr>
        <p:txBody>
          <a:bodyPr spcFirstLastPara="1" wrap="square" lIns="0" tIns="0" rIns="0" bIns="0" anchor="t" anchorCtr="0">
            <a:spAutoFit/>
          </a:bodyPr>
          <a:lstStyle/>
          <a:p>
            <a:pPr lvl="0" algn="ctr"/>
            <a:r>
              <a:rPr lang="en-US" sz="6000" b="1" dirty="0">
                <a:solidFill>
                  <a:srgbClr val="0E8388"/>
                </a:solidFill>
                <a:latin typeface="Poppins"/>
                <a:cs typeface="Poppins"/>
                <a:sym typeface="Poppins"/>
              </a:rPr>
              <a:t>SIM900A TESTING</a:t>
            </a:r>
            <a:endParaRPr lang="en-US" sz="6000" dirty="0"/>
          </a:p>
        </p:txBody>
      </p:sp>
      <p:sp>
        <p:nvSpPr>
          <p:cNvPr id="130" name="Google Shape;130;p3">
            <a:extLst>
              <a:ext uri="{FF2B5EF4-FFF2-40B4-BE49-F238E27FC236}">
                <a16:creationId xmlns:a16="http://schemas.microsoft.com/office/drawing/2014/main" id="{2E3D1117-924F-BED3-EFEA-14DE465C6A5E}"/>
              </a:ext>
            </a:extLst>
          </p:cNvPr>
          <p:cNvSpPr txBox="1"/>
          <p:nvPr/>
        </p:nvSpPr>
        <p:spPr>
          <a:xfrm>
            <a:off x="2462158" y="2621758"/>
            <a:ext cx="6419317" cy="58714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sp>
        <p:nvSpPr>
          <p:cNvPr id="133" name="Google Shape;133;p3">
            <a:extLst>
              <a:ext uri="{FF2B5EF4-FFF2-40B4-BE49-F238E27FC236}">
                <a16:creationId xmlns:a16="http://schemas.microsoft.com/office/drawing/2014/main" id="{4F9303A1-5AB7-E3BA-6B1E-28A9344F728C}"/>
              </a:ext>
            </a:extLst>
          </p:cNvPr>
          <p:cNvSpPr txBox="1"/>
          <p:nvPr/>
        </p:nvSpPr>
        <p:spPr>
          <a:xfrm>
            <a:off x="10222736" y="2782379"/>
            <a:ext cx="8065264" cy="58714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C9B0E6AC-458C-7519-07A5-3C767AC61175}"/>
              </a:ext>
            </a:extLst>
          </p:cNvPr>
          <p:cNvGraphicFramePr>
            <a:graphicFrameLocks noGrp="1"/>
          </p:cNvGraphicFramePr>
          <p:nvPr>
            <p:extLst>
              <p:ext uri="{D42A27DB-BD31-4B8C-83A1-F6EECF244321}">
                <p14:modId xmlns:p14="http://schemas.microsoft.com/office/powerpoint/2010/main" val="2833606952"/>
              </p:ext>
            </p:extLst>
          </p:nvPr>
        </p:nvGraphicFramePr>
        <p:xfrm>
          <a:off x="5898593" y="1823921"/>
          <a:ext cx="7017679" cy="8197341"/>
        </p:xfrm>
        <a:graphic>
          <a:graphicData uri="http://schemas.openxmlformats.org/drawingml/2006/table">
            <a:tbl>
              <a:tblPr firstRow="1" firstCol="1" bandRow="1">
                <a:tableStyleId>{C3CD1E25-FE98-4B5A-8E57-A940E09644AD}</a:tableStyleId>
              </a:tblPr>
              <a:tblGrid>
                <a:gridCol w="472744">
                  <a:extLst>
                    <a:ext uri="{9D8B030D-6E8A-4147-A177-3AD203B41FA5}">
                      <a16:colId xmlns:a16="http://schemas.microsoft.com/office/drawing/2014/main" val="1307859972"/>
                    </a:ext>
                  </a:extLst>
                </a:gridCol>
                <a:gridCol w="1517384">
                  <a:extLst>
                    <a:ext uri="{9D8B030D-6E8A-4147-A177-3AD203B41FA5}">
                      <a16:colId xmlns:a16="http://schemas.microsoft.com/office/drawing/2014/main" val="3677940045"/>
                    </a:ext>
                  </a:extLst>
                </a:gridCol>
                <a:gridCol w="896796">
                  <a:extLst>
                    <a:ext uri="{9D8B030D-6E8A-4147-A177-3AD203B41FA5}">
                      <a16:colId xmlns:a16="http://schemas.microsoft.com/office/drawing/2014/main" val="3328166696"/>
                    </a:ext>
                  </a:extLst>
                </a:gridCol>
                <a:gridCol w="1517384">
                  <a:extLst>
                    <a:ext uri="{9D8B030D-6E8A-4147-A177-3AD203B41FA5}">
                      <a16:colId xmlns:a16="http://schemas.microsoft.com/office/drawing/2014/main" val="1216165814"/>
                    </a:ext>
                  </a:extLst>
                </a:gridCol>
                <a:gridCol w="1129628">
                  <a:extLst>
                    <a:ext uri="{9D8B030D-6E8A-4147-A177-3AD203B41FA5}">
                      <a16:colId xmlns:a16="http://schemas.microsoft.com/office/drawing/2014/main" val="3924589350"/>
                    </a:ext>
                  </a:extLst>
                </a:gridCol>
                <a:gridCol w="1483743">
                  <a:extLst>
                    <a:ext uri="{9D8B030D-6E8A-4147-A177-3AD203B41FA5}">
                      <a16:colId xmlns:a16="http://schemas.microsoft.com/office/drawing/2014/main" val="195788703"/>
                    </a:ext>
                  </a:extLst>
                </a:gridCol>
              </a:tblGrid>
              <a:tr h="589234">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No</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Bit Kirim</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Status</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Bit Terima</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Status Data</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Waktu Respon</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39645216"/>
                  </a:ext>
                </a:extLst>
              </a:tr>
              <a:tr h="1539767">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lat:-7.942981 long:112.613945 alt:521.3 sat:12 rssi:-76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Send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lat:-7.942981 long:112.613945 alt:521.3 sat:12 rssi:-76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Received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20 detik</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481924452"/>
                  </a:ext>
                </a:extLst>
              </a:tr>
              <a:tr h="1494403">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lat:-7.943014 long:112.613968 alt:509.2 sat:9 rssi:-76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Send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lat:-7.943014 long:112.613968 alt:509.2 sat:9 rssi:-76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Received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18 detik</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664736543"/>
                  </a:ext>
                </a:extLst>
              </a:tr>
              <a:tr h="1494403">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3</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lat:-7.943003 long:112.613846 alt:517.6 sat:9 rssi:-72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Send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dirty="0" err="1">
                          <a:effectLst/>
                          <a:latin typeface="Poppins" panose="00000500000000000000" pitchFamily="2" charset="0"/>
                          <a:cs typeface="Poppins" panose="00000500000000000000" pitchFamily="2" charset="0"/>
                        </a:rPr>
                        <a:t>lat</a:t>
                      </a:r>
                      <a:r>
                        <a:rPr lang="en-ID" sz="1400" kern="0" dirty="0">
                          <a:effectLst/>
                          <a:latin typeface="Poppins" panose="00000500000000000000" pitchFamily="2" charset="0"/>
                          <a:cs typeface="Poppins" panose="00000500000000000000" pitchFamily="2" charset="0"/>
                        </a:rPr>
                        <a:t>:-7.943003 long:112.613846 alt:517.6 sat:9 </a:t>
                      </a:r>
                      <a:r>
                        <a:rPr lang="en-ID" sz="1400" kern="0" dirty="0" err="1">
                          <a:effectLst/>
                          <a:latin typeface="Poppins" panose="00000500000000000000" pitchFamily="2" charset="0"/>
                          <a:cs typeface="Poppins" panose="00000500000000000000" pitchFamily="2" charset="0"/>
                        </a:rPr>
                        <a:t>rssi</a:t>
                      </a:r>
                      <a:r>
                        <a:rPr lang="en-ID" sz="1400" kern="0" dirty="0">
                          <a:effectLst/>
                          <a:latin typeface="Poppins" panose="00000500000000000000" pitchFamily="2" charset="0"/>
                          <a:cs typeface="Poppins" panose="00000500000000000000" pitchFamily="2" charset="0"/>
                        </a:rPr>
                        <a:t>:-72 snr:9.5</a:t>
                      </a:r>
                      <a:endParaRPr lang="en-ID" sz="16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Received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24 detik </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668250155"/>
                  </a:ext>
                </a:extLst>
              </a:tr>
              <a:tr h="1539767">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4</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lat:-7.943038 long:112.614037 alt:496.6 sat:10 rssi:-72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Send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lat:-7.943038 long:112.614037 alt:496.6 sat:10 rssi:-72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Received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15 detik</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109409317"/>
                  </a:ext>
                </a:extLst>
              </a:tr>
              <a:tr h="1539767">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lat:-7.943038 long:112.614037 alt:496.6 sat:10 rssi:-72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Send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lat:-7.943038 long:112.614037 alt:496.6 sat:10 rssi:-72 snr:9.5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Received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15000"/>
                        </a:lnSpc>
                        <a:spcBef>
                          <a:spcPts val="600"/>
                        </a:spcBef>
                        <a:spcAft>
                          <a:spcPts val="1400"/>
                        </a:spcAft>
                        <a:buNone/>
                      </a:pPr>
                      <a:r>
                        <a:rPr lang="en-ID" sz="1400" kern="0" dirty="0">
                          <a:effectLst/>
                          <a:latin typeface="Poppins" panose="00000500000000000000" pitchFamily="2" charset="0"/>
                          <a:cs typeface="Poppins" panose="00000500000000000000" pitchFamily="2" charset="0"/>
                        </a:rPr>
                        <a:t>13 </a:t>
                      </a:r>
                      <a:r>
                        <a:rPr lang="en-ID" sz="1400" kern="0" dirty="0" err="1">
                          <a:effectLst/>
                          <a:latin typeface="Poppins" panose="00000500000000000000" pitchFamily="2" charset="0"/>
                          <a:cs typeface="Poppins" panose="00000500000000000000" pitchFamily="2" charset="0"/>
                        </a:rPr>
                        <a:t>detik</a:t>
                      </a:r>
                      <a:endParaRPr lang="en-ID" sz="16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2544634583"/>
                  </a:ext>
                </a:extLst>
              </a:tr>
            </a:tbl>
          </a:graphicData>
        </a:graphic>
      </p:graphicFrame>
      <p:sp>
        <p:nvSpPr>
          <p:cNvPr id="4" name="Rectangle 1">
            <a:extLst>
              <a:ext uri="{FF2B5EF4-FFF2-40B4-BE49-F238E27FC236}">
                <a16:creationId xmlns:a16="http://schemas.microsoft.com/office/drawing/2014/main" id="{634B5949-A831-E134-3B50-5D5EF3864CBD}"/>
              </a:ext>
            </a:extLst>
          </p:cNvPr>
          <p:cNvSpPr>
            <a:spLocks noChangeArrowheads="1"/>
          </p:cNvSpPr>
          <p:nvPr/>
        </p:nvSpPr>
        <p:spPr bwMode="auto">
          <a:xfrm>
            <a:off x="15245462" y="251423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7725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01912037-B31C-4019-9089-C239F60E9D21}"/>
            </a:ext>
          </a:extLst>
        </p:cNvPr>
        <p:cNvGrpSpPr/>
        <p:nvPr/>
      </p:nvGrpSpPr>
      <p:grpSpPr>
        <a:xfrm>
          <a:off x="0" y="0"/>
          <a:ext cx="0" cy="0"/>
          <a:chOff x="0" y="0"/>
          <a:chExt cx="0" cy="0"/>
        </a:xfrm>
      </p:grpSpPr>
      <p:grpSp>
        <p:nvGrpSpPr>
          <p:cNvPr id="121" name="Google Shape;121;p3">
            <a:extLst>
              <a:ext uri="{FF2B5EF4-FFF2-40B4-BE49-F238E27FC236}">
                <a16:creationId xmlns:a16="http://schemas.microsoft.com/office/drawing/2014/main" id="{B05BBADB-7375-0671-2F9A-CB18943678F4}"/>
              </a:ext>
            </a:extLst>
          </p:cNvPr>
          <p:cNvGrpSpPr/>
          <p:nvPr/>
        </p:nvGrpSpPr>
        <p:grpSpPr>
          <a:xfrm>
            <a:off x="0" y="1577704"/>
            <a:ext cx="19891271" cy="8709296"/>
            <a:chOff x="0" y="0"/>
            <a:chExt cx="5661114" cy="1678079"/>
          </a:xfrm>
        </p:grpSpPr>
        <p:sp>
          <p:nvSpPr>
            <p:cNvPr id="122" name="Google Shape;122;p3">
              <a:extLst>
                <a:ext uri="{FF2B5EF4-FFF2-40B4-BE49-F238E27FC236}">
                  <a16:creationId xmlns:a16="http://schemas.microsoft.com/office/drawing/2014/main" id="{2ECAE032-6AEE-546B-3F45-DFEF8B762009}"/>
                </a:ext>
              </a:extLst>
            </p:cNvPr>
            <p:cNvSpPr/>
            <p:nvPr/>
          </p:nvSpPr>
          <p:spPr>
            <a:xfrm>
              <a:off x="0" y="3761"/>
              <a:ext cx="5238853" cy="1674318"/>
            </a:xfrm>
            <a:custGeom>
              <a:avLst/>
              <a:gdLst/>
              <a:ahLst/>
              <a:cxnLst/>
              <a:rect l="l" t="t" r="r" b="b"/>
              <a:pathLst>
                <a:path w="5661114" h="1674318" extrusionOk="0">
                  <a:moveTo>
                    <a:pt x="0" y="0"/>
                  </a:moveTo>
                  <a:lnTo>
                    <a:pt x="5661114" y="0"/>
                  </a:lnTo>
                  <a:lnTo>
                    <a:pt x="5661114" y="1674318"/>
                  </a:lnTo>
                  <a:lnTo>
                    <a:pt x="0" y="1674318"/>
                  </a:lnTo>
                  <a:close/>
                </a:path>
              </a:pathLst>
            </a:custGeom>
            <a:solidFill>
              <a:srgbClr val="0E8388"/>
            </a:solidFill>
            <a:ln>
              <a:noFill/>
            </a:ln>
          </p:spPr>
        </p:sp>
        <p:sp>
          <p:nvSpPr>
            <p:cNvPr id="123" name="Google Shape;123;p3">
              <a:extLst>
                <a:ext uri="{FF2B5EF4-FFF2-40B4-BE49-F238E27FC236}">
                  <a16:creationId xmlns:a16="http://schemas.microsoft.com/office/drawing/2014/main" id="{91363AF1-A1AA-DD20-D65A-60B9AD212B9B}"/>
                </a:ext>
              </a:extLst>
            </p:cNvPr>
            <p:cNvSpPr txBox="1"/>
            <p:nvPr/>
          </p:nvSpPr>
          <p:spPr>
            <a:xfrm>
              <a:off x="0" y="0"/>
              <a:ext cx="5661114" cy="1674318"/>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4" name="Google Shape;124;p3">
            <a:extLst>
              <a:ext uri="{FF2B5EF4-FFF2-40B4-BE49-F238E27FC236}">
                <a16:creationId xmlns:a16="http://schemas.microsoft.com/office/drawing/2014/main" id="{DA92F545-6E15-8B58-4BB6-20BD84508E07}"/>
              </a:ext>
            </a:extLst>
          </p:cNvPr>
          <p:cNvSpPr/>
          <p:nvPr/>
        </p:nvSpPr>
        <p:spPr>
          <a:xfrm rot="5400000" flipH="1">
            <a:off x="-4805309" y="2037856"/>
            <a:ext cx="12676724" cy="4421008"/>
          </a:xfrm>
          <a:custGeom>
            <a:avLst/>
            <a:gdLst/>
            <a:ahLst/>
            <a:cxnLst/>
            <a:rect l="l" t="t" r="r" b="b"/>
            <a:pathLst>
              <a:path w="12676724" h="4421008" extrusionOk="0">
                <a:moveTo>
                  <a:pt x="0" y="4421007"/>
                </a:moveTo>
                <a:lnTo>
                  <a:pt x="12676725" y="4421007"/>
                </a:lnTo>
                <a:lnTo>
                  <a:pt x="12676725" y="0"/>
                </a:lnTo>
                <a:lnTo>
                  <a:pt x="0" y="0"/>
                </a:lnTo>
                <a:lnTo>
                  <a:pt x="0" y="4421007"/>
                </a:lnTo>
                <a:close/>
              </a:path>
            </a:pathLst>
          </a:custGeom>
          <a:blipFill rotWithShape="1">
            <a:blip r:embed="rId3">
              <a:alphaModFix/>
            </a:blip>
            <a:stretch>
              <a:fillRect/>
            </a:stretch>
          </a:blipFill>
          <a:ln>
            <a:noFill/>
          </a:ln>
        </p:spPr>
      </p:sp>
      <p:grpSp>
        <p:nvGrpSpPr>
          <p:cNvPr id="125" name="Google Shape;125;p3">
            <a:extLst>
              <a:ext uri="{FF2B5EF4-FFF2-40B4-BE49-F238E27FC236}">
                <a16:creationId xmlns:a16="http://schemas.microsoft.com/office/drawing/2014/main" id="{A9D13FC6-308C-92D0-AF32-53DBD54C5BC2}"/>
              </a:ext>
            </a:extLst>
          </p:cNvPr>
          <p:cNvGrpSpPr/>
          <p:nvPr/>
        </p:nvGrpSpPr>
        <p:grpSpPr>
          <a:xfrm>
            <a:off x="6215283" y="2206164"/>
            <a:ext cx="604566" cy="604566"/>
            <a:chOff x="0" y="0"/>
            <a:chExt cx="812800" cy="812800"/>
          </a:xfrm>
        </p:grpSpPr>
        <p:sp>
          <p:nvSpPr>
            <p:cNvPr id="126" name="Google Shape;126;p3">
              <a:extLst>
                <a:ext uri="{FF2B5EF4-FFF2-40B4-BE49-F238E27FC236}">
                  <a16:creationId xmlns:a16="http://schemas.microsoft.com/office/drawing/2014/main" id="{74E268F1-BB3A-FBE9-452A-D87F76286BC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a:extLst>
                <a:ext uri="{FF2B5EF4-FFF2-40B4-BE49-F238E27FC236}">
                  <a16:creationId xmlns:a16="http://schemas.microsoft.com/office/drawing/2014/main" id="{87486707-BF69-4C68-B2D5-484620577567}"/>
                </a:ext>
              </a:extLst>
            </p:cNvPr>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3">
            <a:extLst>
              <a:ext uri="{FF2B5EF4-FFF2-40B4-BE49-F238E27FC236}">
                <a16:creationId xmlns:a16="http://schemas.microsoft.com/office/drawing/2014/main" id="{775E3F74-5E13-C148-0FCB-B4B13577923E}"/>
              </a:ext>
            </a:extLst>
          </p:cNvPr>
          <p:cNvSpPr txBox="1"/>
          <p:nvPr/>
        </p:nvSpPr>
        <p:spPr>
          <a:xfrm>
            <a:off x="4056505" y="295239"/>
            <a:ext cx="10294573"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dirty="0">
                <a:solidFill>
                  <a:srgbClr val="0E8388"/>
                </a:solidFill>
                <a:latin typeface="Poppins"/>
                <a:cs typeface="Poppins"/>
                <a:sym typeface="Poppins"/>
              </a:rPr>
              <a:t>LoRa TESTING</a:t>
            </a:r>
            <a:endParaRPr dirty="0"/>
          </a:p>
        </p:txBody>
      </p:sp>
      <p:sp>
        <p:nvSpPr>
          <p:cNvPr id="130" name="Google Shape;130;p3">
            <a:extLst>
              <a:ext uri="{FF2B5EF4-FFF2-40B4-BE49-F238E27FC236}">
                <a16:creationId xmlns:a16="http://schemas.microsoft.com/office/drawing/2014/main" id="{5CFE2F01-5991-3FDB-5D71-898ED39D237E}"/>
              </a:ext>
            </a:extLst>
          </p:cNvPr>
          <p:cNvSpPr txBox="1"/>
          <p:nvPr/>
        </p:nvSpPr>
        <p:spPr>
          <a:xfrm>
            <a:off x="2462158" y="2621758"/>
            <a:ext cx="6419317" cy="58714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sp>
        <p:nvSpPr>
          <p:cNvPr id="133" name="Google Shape;133;p3">
            <a:extLst>
              <a:ext uri="{FF2B5EF4-FFF2-40B4-BE49-F238E27FC236}">
                <a16:creationId xmlns:a16="http://schemas.microsoft.com/office/drawing/2014/main" id="{0BB67E30-758C-6602-77D4-813E23223866}"/>
              </a:ext>
            </a:extLst>
          </p:cNvPr>
          <p:cNvSpPr txBox="1"/>
          <p:nvPr/>
        </p:nvSpPr>
        <p:spPr>
          <a:xfrm>
            <a:off x="10222736" y="2782379"/>
            <a:ext cx="8065264" cy="58714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46EB97EA-BAF5-3EA6-0DDE-1598920532AA}"/>
              </a:ext>
            </a:extLst>
          </p:cNvPr>
          <p:cNvGraphicFramePr>
            <a:graphicFrameLocks noGrp="1"/>
          </p:cNvGraphicFramePr>
          <p:nvPr>
            <p:extLst>
              <p:ext uri="{D42A27DB-BD31-4B8C-83A1-F6EECF244321}">
                <p14:modId xmlns:p14="http://schemas.microsoft.com/office/powerpoint/2010/main" val="1255751621"/>
              </p:ext>
            </p:extLst>
          </p:nvPr>
        </p:nvGraphicFramePr>
        <p:xfrm>
          <a:off x="5995669" y="1686104"/>
          <a:ext cx="7042765" cy="8394617"/>
        </p:xfrm>
        <a:graphic>
          <a:graphicData uri="http://schemas.openxmlformats.org/drawingml/2006/table">
            <a:tbl>
              <a:tblPr firstRow="1" firstCol="1" bandRow="1">
                <a:tableStyleId>{C3CD1E25-FE98-4B5A-8E57-A940E09644AD}</a:tableStyleId>
              </a:tblPr>
              <a:tblGrid>
                <a:gridCol w="482429">
                  <a:extLst>
                    <a:ext uri="{9D8B030D-6E8A-4147-A177-3AD203B41FA5}">
                      <a16:colId xmlns:a16="http://schemas.microsoft.com/office/drawing/2014/main" val="3897861483"/>
                    </a:ext>
                  </a:extLst>
                </a:gridCol>
                <a:gridCol w="933765">
                  <a:extLst>
                    <a:ext uri="{9D8B030D-6E8A-4147-A177-3AD203B41FA5}">
                      <a16:colId xmlns:a16="http://schemas.microsoft.com/office/drawing/2014/main" val="2739496587"/>
                    </a:ext>
                  </a:extLst>
                </a:gridCol>
                <a:gridCol w="1552127">
                  <a:extLst>
                    <a:ext uri="{9D8B030D-6E8A-4147-A177-3AD203B41FA5}">
                      <a16:colId xmlns:a16="http://schemas.microsoft.com/office/drawing/2014/main" val="3383557064"/>
                    </a:ext>
                  </a:extLst>
                </a:gridCol>
                <a:gridCol w="919548">
                  <a:extLst>
                    <a:ext uri="{9D8B030D-6E8A-4147-A177-3AD203B41FA5}">
                      <a16:colId xmlns:a16="http://schemas.microsoft.com/office/drawing/2014/main" val="2951913195"/>
                    </a:ext>
                  </a:extLst>
                </a:gridCol>
                <a:gridCol w="1648968">
                  <a:extLst>
                    <a:ext uri="{9D8B030D-6E8A-4147-A177-3AD203B41FA5}">
                      <a16:colId xmlns:a16="http://schemas.microsoft.com/office/drawing/2014/main" val="2698109793"/>
                    </a:ext>
                  </a:extLst>
                </a:gridCol>
                <a:gridCol w="1505928">
                  <a:extLst>
                    <a:ext uri="{9D8B030D-6E8A-4147-A177-3AD203B41FA5}">
                      <a16:colId xmlns:a16="http://schemas.microsoft.com/office/drawing/2014/main" val="2506910638"/>
                    </a:ext>
                  </a:extLst>
                </a:gridCol>
              </a:tblGrid>
              <a:tr h="534857">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No</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Status</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Data send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Status Data</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Data receiver</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Waktu Respon</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extLst>
                  <a:ext uri="{0D108BD9-81ED-4DB2-BD59-A6C34878D82A}">
                    <a16:rowId xmlns:a16="http://schemas.microsoft.com/office/drawing/2014/main" val="1670878592"/>
                  </a:ext>
                </a:extLst>
              </a:tr>
              <a:tr h="1571952">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1</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Send</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Lat: -7.942899, Long: 112.613647, Alt: 1 m, Sat: 0, RSSI: -70 dBm, SNR: 10.0 dB</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Received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Lat: -7.942899, Long: 112.613647, Alt: 1 m, Sat: 0, RSSI: -70 dBm, SNR: 10.0 dB</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3 detik</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extLst>
                  <a:ext uri="{0D108BD9-81ED-4DB2-BD59-A6C34878D82A}">
                    <a16:rowId xmlns:a16="http://schemas.microsoft.com/office/drawing/2014/main" val="3948823762"/>
                  </a:ext>
                </a:extLst>
              </a:tr>
              <a:tr h="1571952">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2</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Send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Lat: -7.942917, Long: 112.613663, Alt: 1 m, Sat: 0, RSSI: -70 dBm, SNR: 9.0 dB</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Received</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Lat: -7.942917, Long: 112.613663, Alt: 1 m, Sat: 0, RSSI: -70 dBm, SNR: 9.0 dB</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3 detik</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extLst>
                  <a:ext uri="{0D108BD9-81ED-4DB2-BD59-A6C34878D82A}">
                    <a16:rowId xmlns:a16="http://schemas.microsoft.com/office/drawing/2014/main" val="481428087"/>
                  </a:ext>
                </a:extLst>
              </a:tr>
              <a:tr h="1571952">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3</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Send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Lat: -7.942923, Long: 112.613670, Alt: 1 m, Sat: 0, RSSI: -70 dBm, SNR: 9.0 dB</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Received</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Lat: -7.942923, Long: 112.613670, Alt: 1 m, Sat: 0, RSSI: -70 dBm, SNR: 9.0 dB</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5 detik</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extLst>
                  <a:ext uri="{0D108BD9-81ED-4DB2-BD59-A6C34878D82A}">
                    <a16:rowId xmlns:a16="http://schemas.microsoft.com/office/drawing/2014/main" val="868288664"/>
                  </a:ext>
                </a:extLst>
              </a:tr>
              <a:tr h="1571952">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4</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Send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Lat: -7.942907, Long: 112.613678, Alt: 1 m, Sat: 0, RSSI: -70 dBm, SNR: 9.0 dB</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Received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Lat: -7.942907, Long: 112.613678, Alt: 1 m, Sat: 0, RSSI: -70 dBm, SNR: 9.0 dB</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3 detik</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extLst>
                  <a:ext uri="{0D108BD9-81ED-4DB2-BD59-A6C34878D82A}">
                    <a16:rowId xmlns:a16="http://schemas.microsoft.com/office/drawing/2014/main" val="3423515229"/>
                  </a:ext>
                </a:extLst>
              </a:tr>
              <a:tr h="1571952">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5</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Send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Lat: -7.942935, Long: 112.613686, Alt: 1 m, Sat: 0, RSSI: -70 dBm, SNR: 9.0 dB</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a:effectLst/>
                          <a:latin typeface="Poppins" panose="00000500000000000000" pitchFamily="2" charset="0"/>
                          <a:cs typeface="Poppins" panose="00000500000000000000" pitchFamily="2" charset="0"/>
                        </a:rPr>
                        <a:t>Received</a:t>
                      </a:r>
                      <a:endParaRPr lang="en-ID" sz="1400" kern="10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Lat: -7.942935, Long: 112.613686, Alt: 1 m, Sat: 0, RSSI: -70 dBm, SNR: 9.0 dB</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tc>
                <a:tc>
                  <a:txBody>
                    <a:bodyPr/>
                    <a:lstStyle/>
                    <a:p>
                      <a:pPr algn="ctr">
                        <a:lnSpc>
                          <a:spcPct val="115000"/>
                        </a:lnSpc>
                        <a:spcBef>
                          <a:spcPts val="600"/>
                        </a:spcBef>
                        <a:spcAft>
                          <a:spcPts val="1400"/>
                        </a:spcAft>
                        <a:buNone/>
                      </a:pPr>
                      <a:r>
                        <a:rPr lang="en-ID" sz="1200" kern="0" dirty="0">
                          <a:effectLst/>
                          <a:latin typeface="Poppins" panose="00000500000000000000" pitchFamily="2" charset="0"/>
                          <a:cs typeface="Poppins" panose="00000500000000000000" pitchFamily="2" charset="0"/>
                        </a:rPr>
                        <a:t>5 </a:t>
                      </a:r>
                      <a:r>
                        <a:rPr lang="en-ID" sz="1200" kern="0" dirty="0" err="1">
                          <a:effectLst/>
                          <a:latin typeface="Poppins" panose="00000500000000000000" pitchFamily="2" charset="0"/>
                          <a:cs typeface="Poppins" panose="00000500000000000000" pitchFamily="2" charset="0"/>
                        </a:rPr>
                        <a:t>detik</a:t>
                      </a:r>
                      <a:endParaRPr lang="en-ID" sz="1400" kern="100" dirty="0">
                        <a:effectLst/>
                        <a:latin typeface="Poppins" panose="00000500000000000000" pitchFamily="2" charset="0"/>
                        <a:ea typeface="Aptos" panose="020B0004020202020204" pitchFamily="34" charset="0"/>
                        <a:cs typeface="Poppins" panose="00000500000000000000" pitchFamily="2" charset="0"/>
                      </a:endParaRPr>
                    </a:p>
                  </a:txBody>
                  <a:tcPr marL="51080" marR="51080" marT="0" marB="0" anchor="ctr"/>
                </a:tc>
                <a:extLst>
                  <a:ext uri="{0D108BD9-81ED-4DB2-BD59-A6C34878D82A}">
                    <a16:rowId xmlns:a16="http://schemas.microsoft.com/office/drawing/2014/main" val="1149328317"/>
                  </a:ext>
                </a:extLst>
              </a:tr>
            </a:tbl>
          </a:graphicData>
        </a:graphic>
      </p:graphicFrame>
      <p:sp>
        <p:nvSpPr>
          <p:cNvPr id="4" name="Rectangle 1">
            <a:extLst>
              <a:ext uri="{FF2B5EF4-FFF2-40B4-BE49-F238E27FC236}">
                <a16:creationId xmlns:a16="http://schemas.microsoft.com/office/drawing/2014/main" id="{15E9F237-8AF8-0C40-E97C-8563E4F952DE}"/>
              </a:ext>
            </a:extLst>
          </p:cNvPr>
          <p:cNvSpPr>
            <a:spLocks noChangeArrowheads="1"/>
          </p:cNvSpPr>
          <p:nvPr/>
        </p:nvSpPr>
        <p:spPr bwMode="auto">
          <a:xfrm>
            <a:off x="6256009" y="1597142"/>
            <a:ext cx="31362796" cy="649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D"/>
          </a:p>
        </p:txBody>
      </p:sp>
    </p:spTree>
    <p:extLst>
      <p:ext uri="{BB962C8B-B14F-4D97-AF65-F5344CB8AC3E}">
        <p14:creationId xmlns:p14="http://schemas.microsoft.com/office/powerpoint/2010/main" val="1865295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79440DDF-21B8-FC73-A036-9D555CF484D1}"/>
            </a:ext>
          </a:extLst>
        </p:cNvPr>
        <p:cNvGrpSpPr/>
        <p:nvPr/>
      </p:nvGrpSpPr>
      <p:grpSpPr>
        <a:xfrm>
          <a:off x="0" y="0"/>
          <a:ext cx="0" cy="0"/>
          <a:chOff x="0" y="0"/>
          <a:chExt cx="0" cy="0"/>
        </a:xfrm>
      </p:grpSpPr>
      <p:grpSp>
        <p:nvGrpSpPr>
          <p:cNvPr id="121" name="Google Shape;121;p3">
            <a:extLst>
              <a:ext uri="{FF2B5EF4-FFF2-40B4-BE49-F238E27FC236}">
                <a16:creationId xmlns:a16="http://schemas.microsoft.com/office/drawing/2014/main" id="{04E5AE71-49D4-479B-4BB9-820A4D899A2B}"/>
              </a:ext>
            </a:extLst>
          </p:cNvPr>
          <p:cNvGrpSpPr/>
          <p:nvPr/>
        </p:nvGrpSpPr>
        <p:grpSpPr>
          <a:xfrm>
            <a:off x="0" y="1577704"/>
            <a:ext cx="19891271" cy="8709296"/>
            <a:chOff x="0" y="0"/>
            <a:chExt cx="5661114" cy="1678079"/>
          </a:xfrm>
        </p:grpSpPr>
        <p:sp>
          <p:nvSpPr>
            <p:cNvPr id="122" name="Google Shape;122;p3">
              <a:extLst>
                <a:ext uri="{FF2B5EF4-FFF2-40B4-BE49-F238E27FC236}">
                  <a16:creationId xmlns:a16="http://schemas.microsoft.com/office/drawing/2014/main" id="{AF7A37B9-5B68-868F-B939-479E65CAA44E}"/>
                </a:ext>
              </a:extLst>
            </p:cNvPr>
            <p:cNvSpPr/>
            <p:nvPr/>
          </p:nvSpPr>
          <p:spPr>
            <a:xfrm>
              <a:off x="0" y="3761"/>
              <a:ext cx="5238853" cy="1674318"/>
            </a:xfrm>
            <a:custGeom>
              <a:avLst/>
              <a:gdLst/>
              <a:ahLst/>
              <a:cxnLst/>
              <a:rect l="l" t="t" r="r" b="b"/>
              <a:pathLst>
                <a:path w="5661114" h="1674318" extrusionOk="0">
                  <a:moveTo>
                    <a:pt x="0" y="0"/>
                  </a:moveTo>
                  <a:lnTo>
                    <a:pt x="5661114" y="0"/>
                  </a:lnTo>
                  <a:lnTo>
                    <a:pt x="5661114" y="1674318"/>
                  </a:lnTo>
                  <a:lnTo>
                    <a:pt x="0" y="1674318"/>
                  </a:lnTo>
                  <a:close/>
                </a:path>
              </a:pathLst>
            </a:custGeom>
            <a:solidFill>
              <a:srgbClr val="0E8388"/>
            </a:solidFill>
            <a:ln>
              <a:noFill/>
            </a:ln>
          </p:spPr>
        </p:sp>
        <p:sp>
          <p:nvSpPr>
            <p:cNvPr id="123" name="Google Shape;123;p3">
              <a:extLst>
                <a:ext uri="{FF2B5EF4-FFF2-40B4-BE49-F238E27FC236}">
                  <a16:creationId xmlns:a16="http://schemas.microsoft.com/office/drawing/2014/main" id="{F4DFD9CB-EF0F-EB0D-ECD2-E02A538B87D9}"/>
                </a:ext>
              </a:extLst>
            </p:cNvPr>
            <p:cNvSpPr txBox="1"/>
            <p:nvPr/>
          </p:nvSpPr>
          <p:spPr>
            <a:xfrm>
              <a:off x="0" y="0"/>
              <a:ext cx="5661114" cy="1674318"/>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4" name="Google Shape;124;p3">
            <a:extLst>
              <a:ext uri="{FF2B5EF4-FFF2-40B4-BE49-F238E27FC236}">
                <a16:creationId xmlns:a16="http://schemas.microsoft.com/office/drawing/2014/main" id="{EC2F09CA-5F3F-7018-AA17-7C00F38317FB}"/>
              </a:ext>
            </a:extLst>
          </p:cNvPr>
          <p:cNvSpPr/>
          <p:nvPr/>
        </p:nvSpPr>
        <p:spPr>
          <a:xfrm rot="5400000" flipH="1">
            <a:off x="-4805309" y="2037856"/>
            <a:ext cx="12676724" cy="4421008"/>
          </a:xfrm>
          <a:custGeom>
            <a:avLst/>
            <a:gdLst/>
            <a:ahLst/>
            <a:cxnLst/>
            <a:rect l="l" t="t" r="r" b="b"/>
            <a:pathLst>
              <a:path w="12676724" h="4421008" extrusionOk="0">
                <a:moveTo>
                  <a:pt x="0" y="4421007"/>
                </a:moveTo>
                <a:lnTo>
                  <a:pt x="12676725" y="4421007"/>
                </a:lnTo>
                <a:lnTo>
                  <a:pt x="12676725" y="0"/>
                </a:lnTo>
                <a:lnTo>
                  <a:pt x="0" y="0"/>
                </a:lnTo>
                <a:lnTo>
                  <a:pt x="0" y="4421007"/>
                </a:lnTo>
                <a:close/>
              </a:path>
            </a:pathLst>
          </a:custGeom>
          <a:blipFill rotWithShape="1">
            <a:blip r:embed="rId3">
              <a:alphaModFix/>
            </a:blip>
            <a:stretch>
              <a:fillRect/>
            </a:stretch>
          </a:blipFill>
          <a:ln>
            <a:noFill/>
          </a:ln>
        </p:spPr>
      </p:sp>
      <p:grpSp>
        <p:nvGrpSpPr>
          <p:cNvPr id="125" name="Google Shape;125;p3">
            <a:extLst>
              <a:ext uri="{FF2B5EF4-FFF2-40B4-BE49-F238E27FC236}">
                <a16:creationId xmlns:a16="http://schemas.microsoft.com/office/drawing/2014/main" id="{66BBC247-4E14-1DA7-3EAA-5E6AEFDB51DA}"/>
              </a:ext>
            </a:extLst>
          </p:cNvPr>
          <p:cNvGrpSpPr/>
          <p:nvPr/>
        </p:nvGrpSpPr>
        <p:grpSpPr>
          <a:xfrm>
            <a:off x="6215283" y="2206164"/>
            <a:ext cx="604566" cy="604566"/>
            <a:chOff x="0" y="0"/>
            <a:chExt cx="812800" cy="812800"/>
          </a:xfrm>
        </p:grpSpPr>
        <p:sp>
          <p:nvSpPr>
            <p:cNvPr id="126" name="Google Shape;126;p3">
              <a:extLst>
                <a:ext uri="{FF2B5EF4-FFF2-40B4-BE49-F238E27FC236}">
                  <a16:creationId xmlns:a16="http://schemas.microsoft.com/office/drawing/2014/main" id="{45A17348-39BD-129E-E8EA-A85F9A5BF89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a:extLst>
                <a:ext uri="{FF2B5EF4-FFF2-40B4-BE49-F238E27FC236}">
                  <a16:creationId xmlns:a16="http://schemas.microsoft.com/office/drawing/2014/main" id="{01C91ED9-33E3-05B6-1DF9-0E41F4C52D0C}"/>
                </a:ext>
              </a:extLst>
            </p:cNvPr>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3">
            <a:extLst>
              <a:ext uri="{FF2B5EF4-FFF2-40B4-BE49-F238E27FC236}">
                <a16:creationId xmlns:a16="http://schemas.microsoft.com/office/drawing/2014/main" id="{0B6DA940-40AE-AEC7-2520-F7FA847DCB5E}"/>
              </a:ext>
            </a:extLst>
          </p:cNvPr>
          <p:cNvSpPr txBox="1"/>
          <p:nvPr/>
        </p:nvSpPr>
        <p:spPr>
          <a:xfrm>
            <a:off x="4056505" y="295239"/>
            <a:ext cx="10294573"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dirty="0">
                <a:solidFill>
                  <a:srgbClr val="0E8388"/>
                </a:solidFill>
                <a:latin typeface="Poppins"/>
                <a:ea typeface="Poppins"/>
                <a:cs typeface="Poppins"/>
                <a:sym typeface="Poppins"/>
              </a:rPr>
              <a:t>DIAGRAM SYSTEM</a:t>
            </a:r>
            <a:endParaRPr dirty="0"/>
          </a:p>
        </p:txBody>
      </p:sp>
      <p:sp>
        <p:nvSpPr>
          <p:cNvPr id="130" name="Google Shape;130;p3">
            <a:extLst>
              <a:ext uri="{FF2B5EF4-FFF2-40B4-BE49-F238E27FC236}">
                <a16:creationId xmlns:a16="http://schemas.microsoft.com/office/drawing/2014/main" id="{2990B4FD-8607-FD92-FDFB-3C819B2E9F1E}"/>
              </a:ext>
            </a:extLst>
          </p:cNvPr>
          <p:cNvSpPr txBox="1"/>
          <p:nvPr/>
        </p:nvSpPr>
        <p:spPr>
          <a:xfrm>
            <a:off x="2462158" y="2621758"/>
            <a:ext cx="6419317" cy="58714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sp>
        <p:nvSpPr>
          <p:cNvPr id="133" name="Google Shape;133;p3">
            <a:extLst>
              <a:ext uri="{FF2B5EF4-FFF2-40B4-BE49-F238E27FC236}">
                <a16:creationId xmlns:a16="http://schemas.microsoft.com/office/drawing/2014/main" id="{24431C2C-DF0D-47DB-C062-41FBE583B420}"/>
              </a:ext>
            </a:extLst>
          </p:cNvPr>
          <p:cNvSpPr txBox="1"/>
          <p:nvPr/>
        </p:nvSpPr>
        <p:spPr>
          <a:xfrm>
            <a:off x="10222736" y="2782379"/>
            <a:ext cx="8065264" cy="58714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400" b="1">
              <a:solidFill>
                <a:schemeClr val="lt1"/>
              </a:solidFill>
              <a:latin typeface="Calibri"/>
              <a:ea typeface="Calibri"/>
              <a:cs typeface="Calibri"/>
              <a:sym typeface="Calibri"/>
            </a:endParaRPr>
          </a:p>
        </p:txBody>
      </p:sp>
      <p:graphicFrame>
        <p:nvGraphicFramePr>
          <p:cNvPr id="5" name="Table 4">
            <a:extLst>
              <a:ext uri="{FF2B5EF4-FFF2-40B4-BE49-F238E27FC236}">
                <a16:creationId xmlns:a16="http://schemas.microsoft.com/office/drawing/2014/main" id="{94F1D506-3BD8-E85A-8F7C-6B04761B1758}"/>
              </a:ext>
            </a:extLst>
          </p:cNvPr>
          <p:cNvGraphicFramePr>
            <a:graphicFrameLocks noGrp="1"/>
          </p:cNvGraphicFramePr>
          <p:nvPr>
            <p:extLst>
              <p:ext uri="{D42A27DB-BD31-4B8C-83A1-F6EECF244321}">
                <p14:modId xmlns:p14="http://schemas.microsoft.com/office/powerpoint/2010/main" val="4184043964"/>
              </p:ext>
            </p:extLst>
          </p:nvPr>
        </p:nvGraphicFramePr>
        <p:xfrm>
          <a:off x="1884924" y="1973475"/>
          <a:ext cx="6419316" cy="6490585"/>
        </p:xfrm>
        <a:graphic>
          <a:graphicData uri="http://schemas.openxmlformats.org/drawingml/2006/table">
            <a:tbl>
              <a:tblPr firstRow="1" firstCol="1" bandRow="1">
                <a:tableStyleId>{C3CD1E25-FE98-4B5A-8E57-A940E09644AD}</a:tableStyleId>
              </a:tblPr>
              <a:tblGrid>
                <a:gridCol w="523943">
                  <a:extLst>
                    <a:ext uri="{9D8B030D-6E8A-4147-A177-3AD203B41FA5}">
                      <a16:colId xmlns:a16="http://schemas.microsoft.com/office/drawing/2014/main" val="2120717516"/>
                    </a:ext>
                  </a:extLst>
                </a:gridCol>
                <a:gridCol w="849685">
                  <a:extLst>
                    <a:ext uri="{9D8B030D-6E8A-4147-A177-3AD203B41FA5}">
                      <a16:colId xmlns:a16="http://schemas.microsoft.com/office/drawing/2014/main" val="4007260775"/>
                    </a:ext>
                  </a:extLst>
                </a:gridCol>
                <a:gridCol w="1349742">
                  <a:extLst>
                    <a:ext uri="{9D8B030D-6E8A-4147-A177-3AD203B41FA5}">
                      <a16:colId xmlns:a16="http://schemas.microsoft.com/office/drawing/2014/main" val="3646629802"/>
                    </a:ext>
                  </a:extLst>
                </a:gridCol>
                <a:gridCol w="1303785">
                  <a:extLst>
                    <a:ext uri="{9D8B030D-6E8A-4147-A177-3AD203B41FA5}">
                      <a16:colId xmlns:a16="http://schemas.microsoft.com/office/drawing/2014/main" val="3377172001"/>
                    </a:ext>
                  </a:extLst>
                </a:gridCol>
                <a:gridCol w="1198510">
                  <a:extLst>
                    <a:ext uri="{9D8B030D-6E8A-4147-A177-3AD203B41FA5}">
                      <a16:colId xmlns:a16="http://schemas.microsoft.com/office/drawing/2014/main" val="1385533860"/>
                    </a:ext>
                  </a:extLst>
                </a:gridCol>
                <a:gridCol w="1193651">
                  <a:extLst>
                    <a:ext uri="{9D8B030D-6E8A-4147-A177-3AD203B41FA5}">
                      <a16:colId xmlns:a16="http://schemas.microsoft.com/office/drawing/2014/main" val="1708181920"/>
                    </a:ext>
                  </a:extLst>
                </a:gridCol>
              </a:tblGrid>
              <a:tr h="660885">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ID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Status</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Penembak</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Helm / Rompi</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Waktu</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Lokasi Unit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1398272270"/>
                  </a:ext>
                </a:extLst>
              </a:tr>
              <a:tr h="1165940">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Helm </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14:02:15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-7.942939, 112.613513</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1082098264"/>
                  </a:ext>
                </a:extLst>
              </a:tr>
              <a:tr h="1165940">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Rompi</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14:02:47</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-7.942940, 112.613514</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3955174897"/>
                  </a:ext>
                </a:extLst>
              </a:tr>
              <a:tr h="1165940">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Helm</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14:03:22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-7.942941, 112.613515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2024955018"/>
                  </a:ext>
                </a:extLst>
              </a:tr>
              <a:tr h="1165940">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Miss</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14:03:59</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7.942939, 112.613513</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1650270746"/>
                  </a:ext>
                </a:extLst>
              </a:tr>
              <a:tr h="1165940">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Helm</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14:04:34</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dirty="0">
                          <a:effectLst/>
                          <a:latin typeface="Poppins" panose="00000500000000000000" pitchFamily="2" charset="0"/>
                          <a:cs typeface="Poppins" panose="00000500000000000000" pitchFamily="2" charset="0"/>
                        </a:rPr>
                        <a:t>-7.942938, 112.613512</a:t>
                      </a:r>
                      <a:endParaRPr lang="en-ID" sz="16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388165763"/>
                  </a:ext>
                </a:extLst>
              </a:tr>
            </a:tbl>
          </a:graphicData>
        </a:graphic>
      </p:graphicFrame>
      <p:graphicFrame>
        <p:nvGraphicFramePr>
          <p:cNvPr id="6" name="Table 5">
            <a:extLst>
              <a:ext uri="{FF2B5EF4-FFF2-40B4-BE49-F238E27FC236}">
                <a16:creationId xmlns:a16="http://schemas.microsoft.com/office/drawing/2014/main" id="{32921659-24B5-D423-0922-DB86AB76A220}"/>
              </a:ext>
            </a:extLst>
          </p:cNvPr>
          <p:cNvGraphicFramePr>
            <a:graphicFrameLocks noGrp="1"/>
          </p:cNvGraphicFramePr>
          <p:nvPr>
            <p:extLst>
              <p:ext uri="{D42A27DB-BD31-4B8C-83A1-F6EECF244321}">
                <p14:modId xmlns:p14="http://schemas.microsoft.com/office/powerpoint/2010/main" val="2441262870"/>
              </p:ext>
            </p:extLst>
          </p:nvPr>
        </p:nvGraphicFramePr>
        <p:xfrm>
          <a:off x="9144000" y="1961226"/>
          <a:ext cx="7502770" cy="6502836"/>
        </p:xfrm>
        <a:graphic>
          <a:graphicData uri="http://schemas.openxmlformats.org/drawingml/2006/table">
            <a:tbl>
              <a:tblPr firstRow="1" firstCol="1" bandRow="1">
                <a:tableStyleId>{C3CD1E25-FE98-4B5A-8E57-A940E09644AD}</a:tableStyleId>
              </a:tblPr>
              <a:tblGrid>
                <a:gridCol w="612374">
                  <a:extLst>
                    <a:ext uri="{9D8B030D-6E8A-4147-A177-3AD203B41FA5}">
                      <a16:colId xmlns:a16="http://schemas.microsoft.com/office/drawing/2014/main" val="3315967241"/>
                    </a:ext>
                  </a:extLst>
                </a:gridCol>
                <a:gridCol w="1172692">
                  <a:extLst>
                    <a:ext uri="{9D8B030D-6E8A-4147-A177-3AD203B41FA5}">
                      <a16:colId xmlns:a16="http://schemas.microsoft.com/office/drawing/2014/main" val="2719089647"/>
                    </a:ext>
                  </a:extLst>
                </a:gridCol>
                <a:gridCol w="1397955">
                  <a:extLst>
                    <a:ext uri="{9D8B030D-6E8A-4147-A177-3AD203B41FA5}">
                      <a16:colId xmlns:a16="http://schemas.microsoft.com/office/drawing/2014/main" val="2267285652"/>
                    </a:ext>
                  </a:extLst>
                </a:gridCol>
                <a:gridCol w="1523838">
                  <a:extLst>
                    <a:ext uri="{9D8B030D-6E8A-4147-A177-3AD203B41FA5}">
                      <a16:colId xmlns:a16="http://schemas.microsoft.com/office/drawing/2014/main" val="4051919428"/>
                    </a:ext>
                  </a:extLst>
                </a:gridCol>
                <a:gridCol w="1400794">
                  <a:extLst>
                    <a:ext uri="{9D8B030D-6E8A-4147-A177-3AD203B41FA5}">
                      <a16:colId xmlns:a16="http://schemas.microsoft.com/office/drawing/2014/main" val="3624322066"/>
                    </a:ext>
                  </a:extLst>
                </a:gridCol>
                <a:gridCol w="1395117">
                  <a:extLst>
                    <a:ext uri="{9D8B030D-6E8A-4147-A177-3AD203B41FA5}">
                      <a16:colId xmlns:a16="http://schemas.microsoft.com/office/drawing/2014/main" val="855029223"/>
                    </a:ext>
                  </a:extLst>
                </a:gridCol>
              </a:tblGrid>
              <a:tr h="573566">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ID</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Status</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Penembak</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Helm / Rompi</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Waktu</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Lokasi Unit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2675868648"/>
                  </a:ext>
                </a:extLst>
              </a:tr>
              <a:tr h="1185854">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Rompi</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14:06:10</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-7.943481, 112.613567</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2355748705"/>
                  </a:ext>
                </a:extLst>
              </a:tr>
              <a:tr h="1185854">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Hlem</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14:06:45</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dirty="0">
                          <a:effectLst/>
                          <a:latin typeface="Poppins" panose="00000500000000000000" pitchFamily="2" charset="0"/>
                          <a:cs typeface="Poppins" panose="00000500000000000000" pitchFamily="2" charset="0"/>
                        </a:rPr>
                        <a:t>-7.943483, 112.613569</a:t>
                      </a:r>
                      <a:endParaRPr lang="en-ID" sz="16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4059320364"/>
                  </a:ext>
                </a:extLst>
              </a:tr>
              <a:tr h="1185854">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Miss</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14:07:19</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-7.943482, 112.613568</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649614932"/>
                  </a:ext>
                </a:extLst>
              </a:tr>
              <a:tr h="1185854">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Helm</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14:07:54</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-7.943480, 112.613566</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2144057586"/>
                  </a:ext>
                </a:extLst>
              </a:tr>
              <a:tr h="1185854">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Hit</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Unit 2</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Helm</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a:effectLst/>
                          <a:latin typeface="Poppins" panose="00000500000000000000" pitchFamily="2" charset="0"/>
                          <a:cs typeface="Poppins" panose="00000500000000000000" pitchFamily="2" charset="0"/>
                        </a:rPr>
                        <a:t>14:08:29</a:t>
                      </a:r>
                      <a:endParaRPr lang="en-ID" sz="16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15000"/>
                        </a:lnSpc>
                        <a:spcBef>
                          <a:spcPts val="600"/>
                        </a:spcBef>
                        <a:spcAft>
                          <a:spcPts val="1400"/>
                        </a:spcAft>
                        <a:buNone/>
                      </a:pPr>
                      <a:r>
                        <a:rPr lang="en-ID" sz="1400" kern="0" dirty="0">
                          <a:effectLst/>
                          <a:latin typeface="Poppins" panose="00000500000000000000" pitchFamily="2" charset="0"/>
                          <a:cs typeface="Poppins" panose="00000500000000000000" pitchFamily="2" charset="0"/>
                        </a:rPr>
                        <a:t>-7.943484, 112.613570</a:t>
                      </a:r>
                      <a:endParaRPr lang="en-ID" sz="16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extLst>
                  <a:ext uri="{0D108BD9-81ED-4DB2-BD59-A6C34878D82A}">
                    <a16:rowId xmlns:a16="http://schemas.microsoft.com/office/drawing/2014/main" val="723151004"/>
                  </a:ext>
                </a:extLst>
              </a:tr>
            </a:tbl>
          </a:graphicData>
        </a:graphic>
      </p:graphicFrame>
      <p:sp>
        <p:nvSpPr>
          <p:cNvPr id="8" name="TextBox 7">
            <a:extLst>
              <a:ext uri="{FF2B5EF4-FFF2-40B4-BE49-F238E27FC236}">
                <a16:creationId xmlns:a16="http://schemas.microsoft.com/office/drawing/2014/main" id="{F6BCC056-1A6B-C61B-FA1E-FC5F1112FEB5}"/>
              </a:ext>
            </a:extLst>
          </p:cNvPr>
          <p:cNvSpPr txBox="1"/>
          <p:nvPr/>
        </p:nvSpPr>
        <p:spPr>
          <a:xfrm>
            <a:off x="0" y="1637359"/>
            <a:ext cx="10382490" cy="307777"/>
          </a:xfrm>
          <a:prstGeom prst="rect">
            <a:avLst/>
          </a:prstGeom>
          <a:noFill/>
        </p:spPr>
        <p:txBody>
          <a:bodyPr wrap="square">
            <a:spAutoFit/>
          </a:bodyPr>
          <a:lstStyle/>
          <a:p>
            <a:pPr marL="0" marR="0" lvl="0" indent="0" algn="ctr" rtl="0">
              <a:spcBef>
                <a:spcPts val="0"/>
              </a:spcBef>
              <a:spcAft>
                <a:spcPts val="0"/>
              </a:spcAft>
              <a:buNone/>
            </a:pPr>
            <a:r>
              <a:rPr lang="en-US" sz="1400" b="1" dirty="0">
                <a:solidFill>
                  <a:schemeClr val="lt1"/>
                </a:solidFill>
                <a:latin typeface="Calibri"/>
                <a:ea typeface="Calibri"/>
                <a:cs typeface="Calibri"/>
                <a:sym typeface="Calibri"/>
              </a:rPr>
              <a:t>UNIT 2</a:t>
            </a:r>
          </a:p>
        </p:txBody>
      </p:sp>
      <p:sp>
        <p:nvSpPr>
          <p:cNvPr id="9" name="TextBox 8">
            <a:extLst>
              <a:ext uri="{FF2B5EF4-FFF2-40B4-BE49-F238E27FC236}">
                <a16:creationId xmlns:a16="http://schemas.microsoft.com/office/drawing/2014/main" id="{6F9F84F9-3FE7-D159-AFEA-93025846CA01}"/>
              </a:ext>
            </a:extLst>
          </p:cNvPr>
          <p:cNvSpPr txBox="1"/>
          <p:nvPr/>
        </p:nvSpPr>
        <p:spPr>
          <a:xfrm>
            <a:off x="7905510" y="1653449"/>
            <a:ext cx="10382490" cy="307777"/>
          </a:xfrm>
          <a:prstGeom prst="rect">
            <a:avLst/>
          </a:prstGeom>
          <a:noFill/>
        </p:spPr>
        <p:txBody>
          <a:bodyPr wrap="square">
            <a:spAutoFit/>
          </a:bodyPr>
          <a:lstStyle/>
          <a:p>
            <a:pPr marL="0" marR="0" lvl="0" indent="0" algn="ctr" rtl="0">
              <a:spcBef>
                <a:spcPts val="0"/>
              </a:spcBef>
              <a:spcAft>
                <a:spcPts val="0"/>
              </a:spcAft>
              <a:buNone/>
            </a:pPr>
            <a:r>
              <a:rPr lang="en-US" sz="1400" b="1" dirty="0">
                <a:solidFill>
                  <a:schemeClr val="lt1"/>
                </a:solidFill>
                <a:latin typeface="Calibri"/>
                <a:ea typeface="Calibri"/>
                <a:cs typeface="Calibri"/>
                <a:sym typeface="Calibri"/>
              </a:rPr>
              <a:t>UNIT 1</a:t>
            </a:r>
          </a:p>
        </p:txBody>
      </p:sp>
    </p:spTree>
    <p:extLst>
      <p:ext uri="{BB962C8B-B14F-4D97-AF65-F5344CB8AC3E}">
        <p14:creationId xmlns:p14="http://schemas.microsoft.com/office/powerpoint/2010/main" val="2494511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6" descr="https://encrypted-tbn0.gstatic.com/images?q=tbn:ANd9GcTheqQnmR5VaU2ggRDEc9nYt1L29D8j1xLpgw&amp;s"/>
          <p:cNvPicPr preferRelativeResize="0"/>
          <p:nvPr/>
        </p:nvPicPr>
        <p:blipFill rotWithShape="1">
          <a:blip r:embed="rId3">
            <a:alphaModFix/>
          </a:blip>
          <a:srcRect/>
          <a:stretch/>
        </p:blipFill>
        <p:spPr>
          <a:xfrm>
            <a:off x="13320231" y="4800600"/>
            <a:ext cx="4967769" cy="5600700"/>
          </a:xfrm>
          <a:prstGeom prst="rect">
            <a:avLst/>
          </a:prstGeom>
          <a:noFill/>
          <a:ln>
            <a:noFill/>
          </a:ln>
        </p:spPr>
      </p:pic>
      <p:sp>
        <p:nvSpPr>
          <p:cNvPr id="211" name="Google Shape;211;p6"/>
          <p:cNvSpPr/>
          <p:nvPr/>
        </p:nvSpPr>
        <p:spPr>
          <a:xfrm rot="-2184949">
            <a:off x="57229" y="2594049"/>
            <a:ext cx="19606652" cy="4992084"/>
          </a:xfrm>
          <a:custGeom>
            <a:avLst/>
            <a:gdLst/>
            <a:ahLst/>
            <a:cxnLst/>
            <a:rect l="l" t="t" r="r" b="b"/>
            <a:pathLst>
              <a:path w="14314219" h="4992084" extrusionOk="0">
                <a:moveTo>
                  <a:pt x="0" y="0"/>
                </a:moveTo>
                <a:lnTo>
                  <a:pt x="14314219" y="0"/>
                </a:lnTo>
                <a:lnTo>
                  <a:pt x="14314219" y="4992084"/>
                </a:lnTo>
                <a:lnTo>
                  <a:pt x="0" y="4992084"/>
                </a:lnTo>
                <a:lnTo>
                  <a:pt x="0" y="0"/>
                </a:lnTo>
                <a:close/>
              </a:path>
            </a:pathLst>
          </a:custGeom>
          <a:blipFill rotWithShape="1">
            <a:blip r:embed="rId4">
              <a:alphaModFix/>
            </a:blip>
            <a:stretch>
              <a:fillRect/>
            </a:stretch>
          </a:blipFill>
          <a:ln>
            <a:noFill/>
          </a:ln>
        </p:spPr>
      </p:sp>
      <p:sp>
        <p:nvSpPr>
          <p:cNvPr id="212" name="Google Shape;212;p6"/>
          <p:cNvSpPr txBox="1"/>
          <p:nvPr/>
        </p:nvSpPr>
        <p:spPr>
          <a:xfrm>
            <a:off x="838200" y="878282"/>
            <a:ext cx="7538244" cy="3077766"/>
          </a:xfrm>
          <a:prstGeom prst="rect">
            <a:avLst/>
          </a:prstGeom>
          <a:noFill/>
          <a:ln>
            <a:noFill/>
          </a:ln>
        </p:spPr>
        <p:txBody>
          <a:bodyPr spcFirstLastPara="1" wrap="square" lIns="0" tIns="0" rIns="0" bIns="0" anchor="t" anchorCtr="0">
            <a:spAutoFit/>
          </a:bodyPr>
          <a:lstStyle/>
          <a:p>
            <a:pPr marL="0" marR="0" lvl="0" indent="0" algn="l" rtl="0">
              <a:lnSpc>
                <a:spcPct val="114004"/>
              </a:lnSpc>
              <a:spcBef>
                <a:spcPts val="0"/>
              </a:spcBef>
              <a:spcAft>
                <a:spcPts val="0"/>
              </a:spcAft>
              <a:buNone/>
            </a:pPr>
            <a:r>
              <a:rPr lang="en-US" sz="10518" b="1">
                <a:solidFill>
                  <a:srgbClr val="0E8388"/>
                </a:solidFill>
                <a:latin typeface="Poppins"/>
                <a:ea typeface="Poppins"/>
                <a:cs typeface="Poppins"/>
                <a:sym typeface="Poppins"/>
              </a:rPr>
              <a:t>Thank You</a:t>
            </a:r>
            <a:endParaRPr/>
          </a:p>
          <a:p>
            <a:pPr marL="0" marR="0" lvl="0" indent="0" algn="l" rtl="0">
              <a:lnSpc>
                <a:spcPct val="181681"/>
              </a:lnSpc>
              <a:spcBef>
                <a:spcPts val="0"/>
              </a:spcBef>
              <a:spcAft>
                <a:spcPts val="0"/>
              </a:spcAft>
              <a:buNone/>
            </a:pPr>
            <a:r>
              <a:rPr lang="en-US" sz="6600" b="1">
                <a:solidFill>
                  <a:srgbClr val="FFC000"/>
                </a:solidFill>
                <a:latin typeface="Poppins"/>
                <a:ea typeface="Poppins"/>
                <a:cs typeface="Poppins"/>
                <a:sym typeface="Poppins"/>
              </a:rPr>
              <a:t>Sharing is caring</a:t>
            </a:r>
            <a:endParaRPr/>
          </a:p>
        </p:txBody>
      </p:sp>
      <p:grpSp>
        <p:nvGrpSpPr>
          <p:cNvPr id="213" name="Google Shape;213;p6"/>
          <p:cNvGrpSpPr/>
          <p:nvPr/>
        </p:nvGrpSpPr>
        <p:grpSpPr>
          <a:xfrm rot="1842236">
            <a:off x="11307317" y="7817989"/>
            <a:ext cx="1355502" cy="1840776"/>
            <a:chOff x="11248141" y="647700"/>
            <a:chExt cx="1096259" cy="1554562"/>
          </a:xfrm>
        </p:grpSpPr>
        <p:grpSp>
          <p:nvGrpSpPr>
            <p:cNvPr id="214" name="Google Shape;214;p6"/>
            <p:cNvGrpSpPr/>
            <p:nvPr/>
          </p:nvGrpSpPr>
          <p:grpSpPr>
            <a:xfrm>
              <a:off x="11486533" y="647700"/>
              <a:ext cx="857867" cy="857867"/>
              <a:chOff x="0" y="0"/>
              <a:chExt cx="812800" cy="812800"/>
            </a:xfrm>
          </p:grpSpPr>
          <p:sp>
            <p:nvSpPr>
              <p:cNvPr id="215" name="Google Shape;215;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17" name="Google Shape;217;p6"/>
            <p:cNvGrpSpPr/>
            <p:nvPr/>
          </p:nvGrpSpPr>
          <p:grpSpPr>
            <a:xfrm>
              <a:off x="11327778" y="1597696"/>
              <a:ext cx="604566" cy="604566"/>
              <a:chOff x="0" y="0"/>
              <a:chExt cx="812800" cy="812800"/>
            </a:xfrm>
          </p:grpSpPr>
          <p:sp>
            <p:nvSpPr>
              <p:cNvPr id="218" name="Google Shape;218;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6"/>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20" name="Google Shape;220;p6"/>
            <p:cNvGrpSpPr/>
            <p:nvPr/>
          </p:nvGrpSpPr>
          <p:grpSpPr>
            <a:xfrm>
              <a:off x="11248141" y="1209342"/>
              <a:ext cx="637633" cy="637633"/>
              <a:chOff x="0" y="0"/>
              <a:chExt cx="812800" cy="812800"/>
            </a:xfrm>
          </p:grpSpPr>
          <p:sp>
            <p:nvSpPr>
              <p:cNvPr id="221" name="Google Shape;221;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cmpd="sng">
                <a:solidFill>
                  <a:srgbClr val="FDB03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223" name="Google Shape;223;p6"/>
          <p:cNvGrpSpPr/>
          <p:nvPr/>
        </p:nvGrpSpPr>
        <p:grpSpPr>
          <a:xfrm rot="1842236">
            <a:off x="12035877" y="586640"/>
            <a:ext cx="1507138" cy="2012143"/>
            <a:chOff x="11248141" y="647700"/>
            <a:chExt cx="1096259" cy="1554562"/>
          </a:xfrm>
        </p:grpSpPr>
        <p:grpSp>
          <p:nvGrpSpPr>
            <p:cNvPr id="224" name="Google Shape;224;p6"/>
            <p:cNvGrpSpPr/>
            <p:nvPr/>
          </p:nvGrpSpPr>
          <p:grpSpPr>
            <a:xfrm>
              <a:off x="11486533" y="647700"/>
              <a:ext cx="857867" cy="857867"/>
              <a:chOff x="0" y="0"/>
              <a:chExt cx="812800" cy="812800"/>
            </a:xfrm>
          </p:grpSpPr>
          <p:sp>
            <p:nvSpPr>
              <p:cNvPr id="225" name="Google Shape;225;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6"/>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27" name="Google Shape;227;p6"/>
            <p:cNvGrpSpPr/>
            <p:nvPr/>
          </p:nvGrpSpPr>
          <p:grpSpPr>
            <a:xfrm>
              <a:off x="11327778" y="1597696"/>
              <a:ext cx="604566" cy="604566"/>
              <a:chOff x="0" y="0"/>
              <a:chExt cx="812800" cy="812800"/>
            </a:xfrm>
          </p:grpSpPr>
          <p:sp>
            <p:nvSpPr>
              <p:cNvPr id="228" name="Google Shape;228;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30" name="Google Shape;230;p6"/>
            <p:cNvGrpSpPr/>
            <p:nvPr/>
          </p:nvGrpSpPr>
          <p:grpSpPr>
            <a:xfrm>
              <a:off x="11248141" y="1209342"/>
              <a:ext cx="637633" cy="637633"/>
              <a:chOff x="0" y="0"/>
              <a:chExt cx="812800" cy="812800"/>
            </a:xfrm>
          </p:grpSpPr>
          <p:sp>
            <p:nvSpPr>
              <p:cNvPr id="231" name="Google Shape;231;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cmpd="sng">
                <a:solidFill>
                  <a:srgbClr val="FDB03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6"/>
              <p:cNvSpPr txBox="1"/>
              <p:nvPr/>
            </p:nvSpPr>
            <p:spPr>
              <a:xfrm>
                <a:off x="76200" y="76200"/>
                <a:ext cx="660400" cy="660400"/>
              </a:xfrm>
              <a:prstGeom prst="rect">
                <a:avLst/>
              </a:prstGeom>
              <a:noFill/>
              <a:ln>
                <a:noFill/>
              </a:ln>
            </p:spPr>
            <p:txBody>
              <a:bodyPr spcFirstLastPara="1" wrap="square" lIns="50800" tIns="50800" rIns="50800" bIns="50800" anchor="ctr" anchorCtr="0">
                <a:noAutofit/>
              </a:bodyPr>
              <a:lstStyle/>
              <a:p>
                <a:pPr marL="0" marR="0" lvl="0" indent="0" algn="ctr" rtl="0">
                  <a:lnSpc>
                    <a:spcPct val="103055"/>
                  </a:lnSpc>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2941</TotalTime>
  <Words>2072</Words>
  <Application>Microsoft Office PowerPoint</Application>
  <PresentationFormat>Custom</PresentationFormat>
  <Paragraphs>237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Poppins</vt:lpstr>
      <vt:lpstr>Times New Roman</vt:lpstr>
      <vt:lpstr>Calibri</vt:lpstr>
      <vt:lpstr>Britannic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Amalia</dc:creator>
  <cp:lastModifiedBy>Latifan Nurdiansyah</cp:lastModifiedBy>
  <cp:revision>35</cp:revision>
  <dcterms:created xsi:type="dcterms:W3CDTF">2006-08-16T00:00:00Z</dcterms:created>
  <dcterms:modified xsi:type="dcterms:W3CDTF">2026-04-25T00:31:01Z</dcterms:modified>
</cp:coreProperties>
</file>